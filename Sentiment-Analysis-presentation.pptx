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14630400" cy="8229600"/>
  <p:notesSz cx="8229600" cy="146304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B2B24C5-6849-43B3-8E15-72C2AB1F30FE}" v="38" dt="2024-06-07T12:07:39.686"/>
    <p1510:client id="{982751D4-2A3F-462B-97E2-BA36D46D531B}" v="8" dt="2024-06-07T11:45:27.66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p:scale>
          <a:sx n="1" d="2"/>
          <a:sy n="1" d="2"/>
        </p:scale>
        <p:origin x="0" y="0"/>
      </p:cViewPr>
      <p:guideLst/>
    </p:cSldViewPr>
  </p:slide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61026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1.xml"/><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8.png"/><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9.png"/></Relationships>
</file>

<file path=ppt/slides/_rels/slide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4.pn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18.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13447" y="0"/>
            <a:ext cx="14630400" cy="8229600"/>
          </a:xfrm>
          <a:prstGeom prst="rect">
            <a:avLst/>
          </a:prstGeom>
          <a:solidFill>
            <a:srgbClr val="FFFFFF"/>
          </a:solidFill>
          <a:ln/>
        </p:spPr>
      </p:sp>
      <p:pic>
        <p:nvPicPr>
          <p:cNvPr id="4" name="Image 1" descr="preencoded.png"/>
          <p:cNvPicPr>
            <a:picLocks noChangeAspect="1"/>
          </p:cNvPicPr>
          <p:nvPr/>
        </p:nvPicPr>
        <p:blipFill>
          <a:blip r:embed="rId4"/>
          <a:stretch>
            <a:fillRect/>
          </a:stretch>
        </p:blipFill>
        <p:spPr>
          <a:xfrm>
            <a:off x="9151620" y="0"/>
            <a:ext cx="5486400" cy="8229600"/>
          </a:xfrm>
          <a:prstGeom prst="rect">
            <a:avLst/>
          </a:prstGeom>
        </p:spPr>
      </p:pic>
      <p:sp>
        <p:nvSpPr>
          <p:cNvPr id="5" name="Text 1"/>
          <p:cNvSpPr/>
          <p:nvPr/>
        </p:nvSpPr>
        <p:spPr>
          <a:xfrm>
            <a:off x="833199" y="2058696"/>
            <a:ext cx="7477601" cy="450701"/>
          </a:xfrm>
          <a:prstGeom prst="rect">
            <a:avLst/>
          </a:prstGeom>
          <a:noFill/>
          <a:ln/>
        </p:spPr>
        <p:txBody>
          <a:bodyPr wrap="square" rtlCol="0" anchor="t"/>
          <a:lstStyle/>
          <a:p>
            <a:pPr marL="0" indent="0">
              <a:lnSpc>
                <a:spcPts val="7545"/>
              </a:lnSpc>
              <a:buNone/>
            </a:pPr>
            <a:r>
              <a:rPr lang="en-US" sz="6036" b="1">
                <a:solidFill>
                  <a:srgbClr val="403C4E"/>
                </a:solidFill>
                <a:latin typeface="Merriweather" pitchFamily="34" charset="0"/>
                <a:ea typeface="Merriweather" pitchFamily="34" charset="-122"/>
                <a:cs typeface="Merriweather" pitchFamily="34" charset="-120"/>
              </a:rPr>
              <a:t>Introduction to Sentiment Analysis</a:t>
            </a:r>
            <a:endParaRPr lang="en-US" sz="6036"/>
          </a:p>
        </p:txBody>
      </p:sp>
      <p:sp>
        <p:nvSpPr>
          <p:cNvPr id="6" name="Text 2"/>
          <p:cNvSpPr/>
          <p:nvPr/>
        </p:nvSpPr>
        <p:spPr>
          <a:xfrm>
            <a:off x="1088693" y="839041"/>
            <a:ext cx="7477601" cy="239126"/>
          </a:xfrm>
          <a:prstGeom prst="rect">
            <a:avLst/>
          </a:prstGeom>
          <a:noFill/>
          <a:ln/>
        </p:spPr>
        <p:txBody>
          <a:bodyPr wrap="none" rtlCol="0" anchor="t"/>
          <a:lstStyle/>
          <a:p>
            <a:pPr marL="0" indent="0">
              <a:lnSpc>
                <a:spcPts val="2624"/>
              </a:lnSpc>
              <a:buNone/>
            </a:pPr>
            <a:endParaRPr lang="en-US" sz="1750"/>
          </a:p>
        </p:txBody>
      </p:sp>
      <p:sp>
        <p:nvSpPr>
          <p:cNvPr id="7" name="Text 3"/>
          <p:cNvSpPr/>
          <p:nvPr/>
        </p:nvSpPr>
        <p:spPr>
          <a:xfrm>
            <a:off x="833199" y="5187385"/>
            <a:ext cx="7477601" cy="1010295"/>
          </a:xfrm>
          <a:prstGeom prst="rect">
            <a:avLst/>
          </a:prstGeom>
          <a:noFill/>
          <a:ln/>
        </p:spPr>
        <p:txBody>
          <a:bodyPr wrap="square" lIns="91440" tIns="45720" rIns="91440" bIns="45720" rtlCol="0" anchor="t"/>
          <a:lstStyle/>
          <a:p>
            <a:r>
              <a:rPr lang="en-US" sz="2000">
                <a:solidFill>
                  <a:srgbClr val="403C4E"/>
                </a:solidFill>
                <a:ea typeface="+mn-lt"/>
                <a:cs typeface="+mn-lt"/>
              </a:rPr>
              <a:t>Sentiment analysis involves interpreting emotions in data. We explore text and image-based methods: text analyzes written content, while image analysis interprets visual cues. Combining both offers a holistic view, providing insights into human emotions across various contexts.</a:t>
            </a:r>
            <a:endParaRPr lang="en-US" sz="2000">
              <a:ea typeface="+mn-lt"/>
              <a:cs typeface="+mn-lt"/>
            </a:endParaRPr>
          </a:p>
          <a:p>
            <a:pPr marL="0" indent="0">
              <a:lnSpc>
                <a:spcPts val="2624"/>
              </a:lnSpc>
              <a:buNone/>
            </a:pPr>
            <a:endParaRPr lang="en-US" sz="1750" dirty="0">
              <a:solidFill>
                <a:srgbClr val="403C4E"/>
              </a:solidFill>
              <a:latin typeface="Open Sans"/>
              <a:ea typeface="Open Sans"/>
              <a:cs typeface="Open San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p:cNvPicPr>
            <a:picLocks noChangeAspect="1"/>
          </p:cNvPicPr>
          <p:nvPr/>
        </p:nvPicPr>
        <p:blipFill>
          <a:blip r:embed="rId4"/>
          <a:stretch>
            <a:fillRect/>
          </a:stretch>
        </p:blipFill>
        <p:spPr>
          <a:xfrm>
            <a:off x="0" y="0"/>
            <a:ext cx="14630400" cy="8229600"/>
          </a:xfrm>
          <a:prstGeom prst="rect">
            <a:avLst/>
          </a:prstGeom>
        </p:spPr>
      </p:pic>
      <p:sp>
        <p:nvSpPr>
          <p:cNvPr id="5" name="Shape 1"/>
          <p:cNvSpPr/>
          <p:nvPr/>
        </p:nvSpPr>
        <p:spPr>
          <a:xfrm>
            <a:off x="0" y="0"/>
            <a:ext cx="14630400" cy="8229600"/>
          </a:xfrm>
          <a:prstGeom prst="rect">
            <a:avLst/>
          </a:prstGeom>
          <a:solidFill>
            <a:srgbClr val="FFFFFF">
              <a:alpha val="85000"/>
            </a:srgbClr>
          </a:solidFill>
          <a:ln/>
        </p:spPr>
      </p:sp>
      <p:sp>
        <p:nvSpPr>
          <p:cNvPr id="6" name="Text 2"/>
          <p:cNvSpPr/>
          <p:nvPr/>
        </p:nvSpPr>
        <p:spPr>
          <a:xfrm>
            <a:off x="2037993" y="1263968"/>
            <a:ext cx="10554414" cy="1388745"/>
          </a:xfrm>
          <a:prstGeom prst="rect">
            <a:avLst/>
          </a:prstGeom>
          <a:noFill/>
          <a:ln/>
        </p:spPr>
        <p:txBody>
          <a:bodyPr wrap="square" rtlCol="0" anchor="t"/>
          <a:lstStyle/>
          <a:p>
            <a:pPr marL="0" indent="0">
              <a:lnSpc>
                <a:spcPts val="5468"/>
              </a:lnSpc>
              <a:buNone/>
            </a:pPr>
            <a:r>
              <a:rPr lang="en-US" sz="4374" b="1">
                <a:solidFill>
                  <a:srgbClr val="403C4E"/>
                </a:solidFill>
                <a:latin typeface="Merriweather" pitchFamily="34" charset="0"/>
                <a:ea typeface="Merriweather" pitchFamily="34" charset="-122"/>
                <a:cs typeface="Merriweather" pitchFamily="34" charset="-120"/>
              </a:rPr>
              <a:t>Sentiment Analysis: What is Sentiment Analysis?</a:t>
            </a:r>
            <a:endParaRPr lang="en-US" sz="4374"/>
          </a:p>
        </p:txBody>
      </p:sp>
      <p:sp>
        <p:nvSpPr>
          <p:cNvPr id="7" name="Text 3"/>
          <p:cNvSpPr/>
          <p:nvPr/>
        </p:nvSpPr>
        <p:spPr>
          <a:xfrm>
            <a:off x="2037993" y="2985968"/>
            <a:ext cx="10554414" cy="333256"/>
          </a:xfrm>
          <a:prstGeom prst="rect">
            <a:avLst/>
          </a:prstGeom>
          <a:noFill/>
          <a:ln/>
        </p:spPr>
        <p:txBody>
          <a:bodyPr wrap="none" rtlCol="0" anchor="t"/>
          <a:lstStyle/>
          <a:p>
            <a:pPr marL="0" indent="0">
              <a:lnSpc>
                <a:spcPts val="2624"/>
              </a:lnSpc>
              <a:buNone/>
            </a:pPr>
            <a:endParaRPr lang="en-US" sz="1750"/>
          </a:p>
        </p:txBody>
      </p:sp>
      <p:sp>
        <p:nvSpPr>
          <p:cNvPr id="8" name="Shape 4"/>
          <p:cNvSpPr/>
          <p:nvPr/>
        </p:nvSpPr>
        <p:spPr>
          <a:xfrm>
            <a:off x="2037993" y="3819049"/>
            <a:ext cx="499943" cy="499943"/>
          </a:xfrm>
          <a:prstGeom prst="roundRect">
            <a:avLst>
              <a:gd name="adj" fmla="val 20000"/>
            </a:avLst>
          </a:prstGeom>
          <a:solidFill>
            <a:srgbClr val="FFD8CC"/>
          </a:solidFill>
          <a:ln w="7620">
            <a:solidFill>
              <a:srgbClr val="E5BEB2"/>
            </a:solidFill>
            <a:prstDash val="solid"/>
          </a:ln>
        </p:spPr>
      </p:sp>
      <p:sp>
        <p:nvSpPr>
          <p:cNvPr id="9" name="Text 5"/>
          <p:cNvSpPr/>
          <p:nvPr/>
        </p:nvSpPr>
        <p:spPr>
          <a:xfrm>
            <a:off x="2211586" y="3860721"/>
            <a:ext cx="152638" cy="416481"/>
          </a:xfrm>
          <a:prstGeom prst="rect">
            <a:avLst/>
          </a:prstGeom>
          <a:noFill/>
          <a:ln/>
        </p:spPr>
        <p:txBody>
          <a:bodyPr wrap="none" rtlCol="0" anchor="t"/>
          <a:lstStyle/>
          <a:p>
            <a:pPr marL="0" indent="0" algn="ctr">
              <a:lnSpc>
                <a:spcPts val="3281"/>
              </a:lnSpc>
              <a:buNone/>
            </a:pPr>
            <a:r>
              <a:rPr lang="en-US" sz="2624" b="1">
                <a:solidFill>
                  <a:srgbClr val="403C4E"/>
                </a:solidFill>
                <a:latin typeface="Merriweather" pitchFamily="34" charset="0"/>
                <a:ea typeface="Merriweather" pitchFamily="34" charset="-122"/>
                <a:cs typeface="Merriweather" pitchFamily="34" charset="-120"/>
              </a:rPr>
              <a:t>1</a:t>
            </a:r>
            <a:endParaRPr lang="en-US" sz="2624"/>
          </a:p>
        </p:txBody>
      </p:sp>
      <p:sp>
        <p:nvSpPr>
          <p:cNvPr id="10" name="Text 6"/>
          <p:cNvSpPr/>
          <p:nvPr/>
        </p:nvSpPr>
        <p:spPr>
          <a:xfrm>
            <a:off x="2760107" y="3819049"/>
            <a:ext cx="2647950" cy="694373"/>
          </a:xfrm>
          <a:prstGeom prst="rect">
            <a:avLst/>
          </a:prstGeom>
          <a:noFill/>
          <a:ln/>
        </p:spPr>
        <p:txBody>
          <a:bodyPr wrap="square" rtlCol="0" anchor="t"/>
          <a:lstStyle/>
          <a:p>
            <a:pPr marL="0" indent="0">
              <a:lnSpc>
                <a:spcPts val="2734"/>
              </a:lnSpc>
              <a:buNone/>
            </a:pPr>
            <a:r>
              <a:rPr lang="en-US" sz="2187" b="1">
                <a:solidFill>
                  <a:srgbClr val="403C4E"/>
                </a:solidFill>
                <a:latin typeface="Merriweather" pitchFamily="34" charset="0"/>
                <a:ea typeface="Merriweather" pitchFamily="34" charset="-122"/>
                <a:cs typeface="Merriweather" pitchFamily="34" charset="-120"/>
              </a:rPr>
              <a:t>Emotion Classification</a:t>
            </a:r>
            <a:endParaRPr lang="en-US" sz="2187"/>
          </a:p>
        </p:txBody>
      </p:sp>
      <p:sp>
        <p:nvSpPr>
          <p:cNvPr id="11" name="Text 7"/>
          <p:cNvSpPr/>
          <p:nvPr/>
        </p:nvSpPr>
        <p:spPr>
          <a:xfrm>
            <a:off x="2760107" y="4646652"/>
            <a:ext cx="2647950" cy="1999536"/>
          </a:xfrm>
          <a:prstGeom prst="rect">
            <a:avLst/>
          </a:prstGeom>
          <a:noFill/>
          <a:ln/>
        </p:spPr>
        <p:txBody>
          <a:bodyPr wrap="square" rtlCol="0" anchor="t"/>
          <a:lstStyle/>
          <a:p>
            <a:pPr marL="0" indent="0">
              <a:lnSpc>
                <a:spcPts val="2624"/>
              </a:lnSpc>
              <a:buNone/>
            </a:pPr>
            <a:r>
              <a:rPr lang="en-US" sz="1750">
                <a:solidFill>
                  <a:srgbClr val="403C4E"/>
                </a:solidFill>
                <a:latin typeface="Open Sans" pitchFamily="34" charset="0"/>
                <a:ea typeface="Open Sans" pitchFamily="34" charset="-122"/>
                <a:cs typeface="Open Sans" pitchFamily="34" charset="-120"/>
              </a:rPr>
              <a:t>Unleash the power of sentiment analysis to decode the true emotions behind text - whether it's positivity, negativity, or neutrality.</a:t>
            </a:r>
            <a:endParaRPr lang="en-US" sz="1750"/>
          </a:p>
        </p:txBody>
      </p:sp>
      <p:sp>
        <p:nvSpPr>
          <p:cNvPr id="12" name="Shape 8"/>
          <p:cNvSpPr/>
          <p:nvPr/>
        </p:nvSpPr>
        <p:spPr>
          <a:xfrm>
            <a:off x="5630228" y="3819049"/>
            <a:ext cx="499943" cy="499943"/>
          </a:xfrm>
          <a:prstGeom prst="roundRect">
            <a:avLst>
              <a:gd name="adj" fmla="val 20000"/>
            </a:avLst>
          </a:prstGeom>
          <a:solidFill>
            <a:srgbClr val="FFD8CC"/>
          </a:solidFill>
          <a:ln w="7620">
            <a:solidFill>
              <a:srgbClr val="E5BEB2"/>
            </a:solidFill>
            <a:prstDash val="solid"/>
          </a:ln>
        </p:spPr>
      </p:sp>
      <p:sp>
        <p:nvSpPr>
          <p:cNvPr id="13" name="Text 9"/>
          <p:cNvSpPr/>
          <p:nvPr/>
        </p:nvSpPr>
        <p:spPr>
          <a:xfrm>
            <a:off x="5779294" y="3860721"/>
            <a:ext cx="201692" cy="416481"/>
          </a:xfrm>
          <a:prstGeom prst="rect">
            <a:avLst/>
          </a:prstGeom>
          <a:noFill/>
          <a:ln/>
        </p:spPr>
        <p:txBody>
          <a:bodyPr wrap="none" rtlCol="0" anchor="t"/>
          <a:lstStyle/>
          <a:p>
            <a:pPr marL="0" indent="0" algn="ctr">
              <a:lnSpc>
                <a:spcPts val="3281"/>
              </a:lnSpc>
              <a:buNone/>
            </a:pPr>
            <a:r>
              <a:rPr lang="en-US" sz="2624" b="1">
                <a:solidFill>
                  <a:srgbClr val="403C4E"/>
                </a:solidFill>
                <a:latin typeface="Merriweather" pitchFamily="34" charset="0"/>
                <a:ea typeface="Merriweather" pitchFamily="34" charset="-122"/>
                <a:cs typeface="Merriweather" pitchFamily="34" charset="-120"/>
              </a:rPr>
              <a:t>2</a:t>
            </a:r>
            <a:endParaRPr lang="en-US" sz="2624"/>
          </a:p>
        </p:txBody>
      </p:sp>
      <p:sp>
        <p:nvSpPr>
          <p:cNvPr id="14" name="Text 10"/>
          <p:cNvSpPr/>
          <p:nvPr/>
        </p:nvSpPr>
        <p:spPr>
          <a:xfrm>
            <a:off x="6352342" y="3819049"/>
            <a:ext cx="2647950" cy="347186"/>
          </a:xfrm>
          <a:prstGeom prst="rect">
            <a:avLst/>
          </a:prstGeom>
          <a:noFill/>
          <a:ln/>
        </p:spPr>
        <p:txBody>
          <a:bodyPr wrap="none" rtlCol="0" anchor="t"/>
          <a:lstStyle/>
          <a:p>
            <a:pPr marL="0" indent="0">
              <a:lnSpc>
                <a:spcPts val="2734"/>
              </a:lnSpc>
              <a:buNone/>
            </a:pPr>
            <a:r>
              <a:rPr lang="en-US" sz="2187" b="1">
                <a:solidFill>
                  <a:srgbClr val="403C4E"/>
                </a:solidFill>
                <a:latin typeface="Merriweather" pitchFamily="34" charset="0"/>
                <a:ea typeface="Merriweather" pitchFamily="34" charset="-122"/>
                <a:cs typeface="Merriweather" pitchFamily="34" charset="-120"/>
              </a:rPr>
              <a:t>Customer Insights</a:t>
            </a:r>
            <a:endParaRPr lang="en-US" sz="2187"/>
          </a:p>
        </p:txBody>
      </p:sp>
      <p:sp>
        <p:nvSpPr>
          <p:cNvPr id="15" name="Text 11"/>
          <p:cNvSpPr/>
          <p:nvPr/>
        </p:nvSpPr>
        <p:spPr>
          <a:xfrm>
            <a:off x="6352342" y="4299466"/>
            <a:ext cx="2647950" cy="2666048"/>
          </a:xfrm>
          <a:prstGeom prst="rect">
            <a:avLst/>
          </a:prstGeom>
          <a:noFill/>
          <a:ln/>
        </p:spPr>
        <p:txBody>
          <a:bodyPr wrap="square" rtlCol="0" anchor="t"/>
          <a:lstStyle/>
          <a:p>
            <a:pPr marL="0" indent="0">
              <a:lnSpc>
                <a:spcPts val="2624"/>
              </a:lnSpc>
              <a:buNone/>
            </a:pPr>
            <a:r>
              <a:rPr lang="en-US" sz="1750">
                <a:solidFill>
                  <a:srgbClr val="403C4E"/>
                </a:solidFill>
                <a:latin typeface="Open Sans" pitchFamily="34" charset="0"/>
                <a:ea typeface="Open Sans" pitchFamily="34" charset="-122"/>
                <a:cs typeface="Open Sans" pitchFamily="34" charset="-120"/>
              </a:rPr>
              <a:t>Delve into the minds of your customers by extracting valuable insights from their reviews and social media posts, revealing public opinion and brand perception.</a:t>
            </a:r>
            <a:endParaRPr lang="en-US" sz="1750"/>
          </a:p>
        </p:txBody>
      </p:sp>
      <p:sp>
        <p:nvSpPr>
          <p:cNvPr id="16" name="Shape 12"/>
          <p:cNvSpPr/>
          <p:nvPr/>
        </p:nvSpPr>
        <p:spPr>
          <a:xfrm>
            <a:off x="9222462" y="3819049"/>
            <a:ext cx="499943" cy="499943"/>
          </a:xfrm>
          <a:prstGeom prst="roundRect">
            <a:avLst>
              <a:gd name="adj" fmla="val 20000"/>
            </a:avLst>
          </a:prstGeom>
          <a:solidFill>
            <a:srgbClr val="FFD8CC"/>
          </a:solidFill>
          <a:ln w="7620">
            <a:solidFill>
              <a:srgbClr val="E5BEB2"/>
            </a:solidFill>
            <a:prstDash val="solid"/>
          </a:ln>
        </p:spPr>
      </p:sp>
      <p:sp>
        <p:nvSpPr>
          <p:cNvPr id="17" name="Text 13"/>
          <p:cNvSpPr/>
          <p:nvPr/>
        </p:nvSpPr>
        <p:spPr>
          <a:xfrm>
            <a:off x="9378077" y="3860721"/>
            <a:ext cx="188714" cy="416481"/>
          </a:xfrm>
          <a:prstGeom prst="rect">
            <a:avLst/>
          </a:prstGeom>
          <a:noFill/>
          <a:ln/>
        </p:spPr>
        <p:txBody>
          <a:bodyPr wrap="none" rtlCol="0" anchor="t"/>
          <a:lstStyle/>
          <a:p>
            <a:pPr marL="0" indent="0" algn="ctr">
              <a:lnSpc>
                <a:spcPts val="3281"/>
              </a:lnSpc>
              <a:buNone/>
            </a:pPr>
            <a:r>
              <a:rPr lang="en-US" sz="2624" b="1">
                <a:solidFill>
                  <a:srgbClr val="403C4E"/>
                </a:solidFill>
                <a:latin typeface="Merriweather" pitchFamily="34" charset="0"/>
                <a:ea typeface="Merriweather" pitchFamily="34" charset="-122"/>
                <a:cs typeface="Merriweather" pitchFamily="34" charset="-120"/>
              </a:rPr>
              <a:t>3</a:t>
            </a:r>
            <a:endParaRPr lang="en-US" sz="2624"/>
          </a:p>
        </p:txBody>
      </p:sp>
      <p:sp>
        <p:nvSpPr>
          <p:cNvPr id="18" name="Text 14"/>
          <p:cNvSpPr/>
          <p:nvPr/>
        </p:nvSpPr>
        <p:spPr>
          <a:xfrm>
            <a:off x="9944576" y="3819049"/>
            <a:ext cx="2647950" cy="347186"/>
          </a:xfrm>
          <a:prstGeom prst="rect">
            <a:avLst/>
          </a:prstGeom>
          <a:noFill/>
          <a:ln/>
        </p:spPr>
        <p:txBody>
          <a:bodyPr wrap="none" rtlCol="0" anchor="t"/>
          <a:lstStyle/>
          <a:p>
            <a:pPr marL="0" indent="0">
              <a:lnSpc>
                <a:spcPts val="2734"/>
              </a:lnSpc>
              <a:buNone/>
            </a:pPr>
            <a:r>
              <a:rPr lang="en-US" sz="2187" b="1">
                <a:solidFill>
                  <a:srgbClr val="403C4E"/>
                </a:solidFill>
                <a:latin typeface="Merriweather" pitchFamily="34" charset="0"/>
                <a:ea typeface="Merriweather" pitchFamily="34" charset="-122"/>
                <a:cs typeface="Merriweather" pitchFamily="34" charset="-120"/>
              </a:rPr>
              <a:t>Decision Making</a:t>
            </a:r>
            <a:endParaRPr lang="en-US" sz="2187"/>
          </a:p>
        </p:txBody>
      </p:sp>
      <p:sp>
        <p:nvSpPr>
          <p:cNvPr id="19" name="Text 15"/>
          <p:cNvSpPr/>
          <p:nvPr/>
        </p:nvSpPr>
        <p:spPr>
          <a:xfrm>
            <a:off x="9944576" y="4299466"/>
            <a:ext cx="2647950" cy="2666048"/>
          </a:xfrm>
          <a:prstGeom prst="rect">
            <a:avLst/>
          </a:prstGeom>
          <a:noFill/>
          <a:ln/>
        </p:spPr>
        <p:txBody>
          <a:bodyPr wrap="square" rtlCol="0" anchor="t"/>
          <a:lstStyle/>
          <a:p>
            <a:pPr marL="0" indent="0">
              <a:lnSpc>
                <a:spcPts val="2624"/>
              </a:lnSpc>
              <a:buNone/>
            </a:pPr>
            <a:r>
              <a:rPr lang="en-US" sz="1750">
                <a:solidFill>
                  <a:srgbClr val="403C4E"/>
                </a:solidFill>
                <a:latin typeface="Open Sans" pitchFamily="34" charset="0"/>
                <a:ea typeface="Open Sans" pitchFamily="34" charset="-122"/>
                <a:cs typeface="Open Sans" pitchFamily="34" charset="-120"/>
              </a:rPr>
              <a:t>Empowers the strategic decision-making process with sentiment analysis, guiding your business decisions, product development, and impactful marketing campaigns.</a:t>
            </a:r>
            <a:endParaRPr lang="en-US" sz="175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
        <p:nvSpPr>
          <p:cNvPr id="4" name="Text 1"/>
          <p:cNvSpPr/>
          <p:nvPr/>
        </p:nvSpPr>
        <p:spPr>
          <a:xfrm>
            <a:off x="2848570" y="518398"/>
            <a:ext cx="5807273" cy="470059"/>
          </a:xfrm>
          <a:prstGeom prst="rect">
            <a:avLst/>
          </a:prstGeom>
          <a:noFill/>
          <a:ln/>
        </p:spPr>
        <p:txBody>
          <a:bodyPr wrap="none" rtlCol="0" anchor="t"/>
          <a:lstStyle/>
          <a:p>
            <a:pPr marL="0" indent="0">
              <a:lnSpc>
                <a:spcPts val="3702"/>
              </a:lnSpc>
              <a:buNone/>
            </a:pPr>
            <a:r>
              <a:rPr lang="en-US" sz="2962" b="1">
                <a:solidFill>
                  <a:srgbClr val="403C4E"/>
                </a:solidFill>
                <a:latin typeface="Merriweather" pitchFamily="34" charset="0"/>
                <a:ea typeface="Merriweather" pitchFamily="34" charset="-122"/>
                <a:cs typeface="Merriweather" pitchFamily="34" charset="-120"/>
              </a:rPr>
              <a:t>Text Based Sentiment Analysis</a:t>
            </a:r>
            <a:endParaRPr lang="en-US" sz="2962"/>
          </a:p>
        </p:txBody>
      </p:sp>
      <p:sp>
        <p:nvSpPr>
          <p:cNvPr id="5" name="Text 2"/>
          <p:cNvSpPr/>
          <p:nvPr/>
        </p:nvSpPr>
        <p:spPr>
          <a:xfrm>
            <a:off x="2848570" y="1364575"/>
            <a:ext cx="8933140" cy="1410891"/>
          </a:xfrm>
          <a:prstGeom prst="rect">
            <a:avLst/>
          </a:prstGeom>
          <a:noFill/>
          <a:ln/>
        </p:spPr>
        <p:txBody>
          <a:bodyPr wrap="square" lIns="91440" tIns="45720" rIns="91440" bIns="45720" rtlCol="0" anchor="t"/>
          <a:lstStyle/>
          <a:p>
            <a:pPr>
              <a:lnSpc>
                <a:spcPts val="2221"/>
              </a:lnSpc>
            </a:pPr>
            <a:r>
              <a:rPr lang="en-US">
                <a:solidFill>
                  <a:srgbClr val="403C4E"/>
                </a:solidFill>
                <a:ea typeface="+mn-lt"/>
                <a:cs typeface="+mn-lt"/>
              </a:rPr>
              <a:t>Text-based sentiment analysis involves analyzing written content to determine the sentiment conveyed, whether it's positive, negative, or neutral. Natural language processing techniques are used to extract features and classify text data. It finds applications in customer feedback analysis, social media monitoring, and brand sentiment tracking, providing valuable insights into public opinion and sentiment trends.</a:t>
            </a:r>
            <a:endParaRPr lang="en-US">
              <a:ea typeface="+mn-lt"/>
              <a:cs typeface="+mn-lt"/>
            </a:endParaRPr>
          </a:p>
        </p:txBody>
      </p:sp>
      <p:pic>
        <p:nvPicPr>
          <p:cNvPr id="6" name="Image 1" descr="preencoded.png"/>
          <p:cNvPicPr>
            <a:picLocks noChangeAspect="1"/>
          </p:cNvPicPr>
          <p:nvPr/>
        </p:nvPicPr>
        <p:blipFill>
          <a:blip r:embed="rId4"/>
          <a:stretch>
            <a:fillRect/>
          </a:stretch>
        </p:blipFill>
        <p:spPr>
          <a:xfrm>
            <a:off x="2848570" y="2987040"/>
            <a:ext cx="8640604" cy="3854291"/>
          </a:xfrm>
          <a:prstGeom prst="rect">
            <a:avLst/>
          </a:prstGeom>
        </p:spPr>
      </p:pic>
      <p:sp>
        <p:nvSpPr>
          <p:cNvPr id="7" name="Text 3"/>
          <p:cNvSpPr/>
          <p:nvPr/>
        </p:nvSpPr>
        <p:spPr>
          <a:xfrm>
            <a:off x="2848570" y="7123390"/>
            <a:ext cx="4701659" cy="587693"/>
          </a:xfrm>
          <a:prstGeom prst="rect">
            <a:avLst/>
          </a:prstGeom>
          <a:noFill/>
          <a:ln/>
        </p:spPr>
        <p:txBody>
          <a:bodyPr wrap="none" rtlCol="0" anchor="t"/>
          <a:lstStyle/>
          <a:p>
            <a:pPr marL="0" indent="0">
              <a:lnSpc>
                <a:spcPts val="4628"/>
              </a:lnSpc>
              <a:buNone/>
            </a:pPr>
            <a:endParaRPr lang="en-US" sz="3702"/>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
        <p:nvSpPr>
          <p:cNvPr id="4" name="Text 1"/>
          <p:cNvSpPr/>
          <p:nvPr/>
        </p:nvSpPr>
        <p:spPr>
          <a:xfrm>
            <a:off x="2037993" y="1591628"/>
            <a:ext cx="10554414" cy="1388745"/>
          </a:xfrm>
          <a:prstGeom prst="rect">
            <a:avLst/>
          </a:prstGeom>
          <a:noFill/>
          <a:ln/>
        </p:spPr>
        <p:txBody>
          <a:bodyPr wrap="square" rtlCol="0" anchor="t"/>
          <a:lstStyle/>
          <a:p>
            <a:pPr marL="0" indent="0">
              <a:lnSpc>
                <a:spcPts val="5468"/>
              </a:lnSpc>
              <a:buNone/>
            </a:pPr>
            <a:r>
              <a:rPr lang="en-US" sz="4374" b="1">
                <a:solidFill>
                  <a:srgbClr val="403C4E"/>
                </a:solidFill>
                <a:latin typeface="Merriweather" pitchFamily="34" charset="0"/>
                <a:ea typeface="Merriweather" pitchFamily="34" charset="-122"/>
                <a:cs typeface="Merriweather" pitchFamily="34" charset="-120"/>
              </a:rPr>
              <a:t>Part-of-Speech (POS) Tagging and Text Analysis</a:t>
            </a:r>
            <a:endParaRPr lang="en-US" sz="4374"/>
          </a:p>
        </p:txBody>
      </p:sp>
      <p:sp>
        <p:nvSpPr>
          <p:cNvPr id="5" name="Text 2"/>
          <p:cNvSpPr/>
          <p:nvPr/>
        </p:nvSpPr>
        <p:spPr>
          <a:xfrm>
            <a:off x="2037993" y="3535799"/>
            <a:ext cx="2777490" cy="347186"/>
          </a:xfrm>
          <a:prstGeom prst="rect">
            <a:avLst/>
          </a:prstGeom>
          <a:noFill/>
          <a:ln/>
        </p:spPr>
        <p:txBody>
          <a:bodyPr wrap="none" rtlCol="0" anchor="t"/>
          <a:lstStyle/>
          <a:p>
            <a:pPr marL="0" indent="0">
              <a:lnSpc>
                <a:spcPts val="2734"/>
              </a:lnSpc>
              <a:buNone/>
            </a:pPr>
            <a:r>
              <a:rPr lang="en-US" sz="2187" b="1">
                <a:solidFill>
                  <a:srgbClr val="403C4E"/>
                </a:solidFill>
                <a:latin typeface="Merriweather" pitchFamily="34" charset="0"/>
                <a:ea typeface="Merriweather" pitchFamily="34" charset="-122"/>
                <a:cs typeface="Merriweather" pitchFamily="34" charset="-120"/>
              </a:rPr>
              <a:t>POS Tagging</a:t>
            </a:r>
            <a:endParaRPr lang="en-US" sz="2187"/>
          </a:p>
        </p:txBody>
      </p:sp>
      <p:sp>
        <p:nvSpPr>
          <p:cNvPr id="6" name="Text 3"/>
          <p:cNvSpPr/>
          <p:nvPr/>
        </p:nvSpPr>
        <p:spPr>
          <a:xfrm>
            <a:off x="2037993" y="4105156"/>
            <a:ext cx="3156347" cy="2332792"/>
          </a:xfrm>
          <a:prstGeom prst="rect">
            <a:avLst/>
          </a:prstGeom>
          <a:noFill/>
          <a:ln/>
        </p:spPr>
        <p:txBody>
          <a:bodyPr wrap="square" rtlCol="0" anchor="t"/>
          <a:lstStyle/>
          <a:p>
            <a:pPr marL="0" indent="0">
              <a:lnSpc>
                <a:spcPts val="2624"/>
              </a:lnSpc>
              <a:buNone/>
            </a:pPr>
            <a:r>
              <a:rPr lang="en-US" sz="1750">
                <a:solidFill>
                  <a:srgbClr val="403C4E"/>
                </a:solidFill>
                <a:latin typeface="Open Sans" pitchFamily="34" charset="0"/>
                <a:ea typeface="Open Sans" pitchFamily="34" charset="-122"/>
                <a:cs typeface="Open Sans" pitchFamily="34" charset="-120"/>
              </a:rPr>
              <a:t>POS tagging is the process of assigning parts of speech (e.g., noun, verb, adjective) to each word in a text. This helps unlock the grammatical structure and meaning of the text.</a:t>
            </a:r>
            <a:endParaRPr lang="en-US" sz="1750"/>
          </a:p>
        </p:txBody>
      </p:sp>
      <p:sp>
        <p:nvSpPr>
          <p:cNvPr id="7" name="Text 4"/>
          <p:cNvSpPr/>
          <p:nvPr/>
        </p:nvSpPr>
        <p:spPr>
          <a:xfrm>
            <a:off x="5743932" y="3535799"/>
            <a:ext cx="2777490" cy="347186"/>
          </a:xfrm>
          <a:prstGeom prst="rect">
            <a:avLst/>
          </a:prstGeom>
          <a:noFill/>
          <a:ln/>
        </p:spPr>
        <p:txBody>
          <a:bodyPr wrap="none" rtlCol="0" anchor="t"/>
          <a:lstStyle/>
          <a:p>
            <a:pPr marL="0" indent="0">
              <a:lnSpc>
                <a:spcPts val="2734"/>
              </a:lnSpc>
              <a:buNone/>
            </a:pPr>
            <a:r>
              <a:rPr lang="en-US" sz="2187" b="1">
                <a:solidFill>
                  <a:srgbClr val="403C4E"/>
                </a:solidFill>
                <a:latin typeface="Merriweather" pitchFamily="34" charset="0"/>
                <a:ea typeface="Merriweather" pitchFamily="34" charset="-122"/>
                <a:cs typeface="Merriweather" pitchFamily="34" charset="-120"/>
              </a:rPr>
              <a:t>Text Analysis</a:t>
            </a:r>
            <a:endParaRPr lang="en-US" sz="2187"/>
          </a:p>
        </p:txBody>
      </p:sp>
      <p:sp>
        <p:nvSpPr>
          <p:cNvPr id="8" name="Text 5"/>
          <p:cNvSpPr/>
          <p:nvPr/>
        </p:nvSpPr>
        <p:spPr>
          <a:xfrm>
            <a:off x="5743932" y="4105156"/>
            <a:ext cx="3156347" cy="1999536"/>
          </a:xfrm>
          <a:prstGeom prst="rect">
            <a:avLst/>
          </a:prstGeom>
          <a:noFill/>
          <a:ln/>
        </p:spPr>
        <p:txBody>
          <a:bodyPr wrap="square" rtlCol="0" anchor="t"/>
          <a:lstStyle/>
          <a:p>
            <a:pPr marL="0" indent="0">
              <a:lnSpc>
                <a:spcPts val="2624"/>
              </a:lnSpc>
              <a:buNone/>
            </a:pPr>
            <a:r>
              <a:rPr lang="en-US" sz="1750">
                <a:solidFill>
                  <a:srgbClr val="403C4E"/>
                </a:solidFill>
                <a:latin typeface="Open Sans" pitchFamily="34" charset="0"/>
                <a:ea typeface="Open Sans" pitchFamily="34" charset="-122"/>
                <a:cs typeface="Open Sans" pitchFamily="34" charset="-120"/>
              </a:rPr>
              <a:t>NLP techniques like word frequency analysis, sentiment analysis, and named entity recognition can provide deeper insights into the content and context of a text.</a:t>
            </a:r>
            <a:endParaRPr lang="en-US" sz="1750"/>
          </a:p>
        </p:txBody>
      </p:sp>
      <p:sp>
        <p:nvSpPr>
          <p:cNvPr id="9" name="Text 6"/>
          <p:cNvSpPr/>
          <p:nvPr/>
        </p:nvSpPr>
        <p:spPr>
          <a:xfrm>
            <a:off x="9449872" y="3535799"/>
            <a:ext cx="2777490" cy="347186"/>
          </a:xfrm>
          <a:prstGeom prst="rect">
            <a:avLst/>
          </a:prstGeom>
          <a:noFill/>
          <a:ln/>
        </p:spPr>
        <p:txBody>
          <a:bodyPr wrap="none" rtlCol="0" anchor="t"/>
          <a:lstStyle/>
          <a:p>
            <a:pPr marL="0" indent="0">
              <a:lnSpc>
                <a:spcPts val="2734"/>
              </a:lnSpc>
              <a:buNone/>
            </a:pPr>
            <a:r>
              <a:rPr lang="en-US" sz="2187" b="1">
                <a:solidFill>
                  <a:srgbClr val="403C4E"/>
                </a:solidFill>
                <a:latin typeface="Merriweather" pitchFamily="34" charset="0"/>
                <a:ea typeface="Merriweather" pitchFamily="34" charset="-122"/>
                <a:cs typeface="Merriweather" pitchFamily="34" charset="-120"/>
              </a:rPr>
              <a:t>Applications</a:t>
            </a:r>
            <a:endParaRPr lang="en-US" sz="2187"/>
          </a:p>
        </p:txBody>
      </p:sp>
      <p:sp>
        <p:nvSpPr>
          <p:cNvPr id="10" name="Text 7"/>
          <p:cNvSpPr/>
          <p:nvPr/>
        </p:nvSpPr>
        <p:spPr>
          <a:xfrm>
            <a:off x="9449872" y="4105156"/>
            <a:ext cx="3156347" cy="1666280"/>
          </a:xfrm>
          <a:prstGeom prst="rect">
            <a:avLst/>
          </a:prstGeom>
          <a:noFill/>
          <a:ln/>
        </p:spPr>
        <p:txBody>
          <a:bodyPr wrap="square" rtlCol="0" anchor="t"/>
          <a:lstStyle/>
          <a:p>
            <a:pPr marL="0" indent="0">
              <a:lnSpc>
                <a:spcPts val="2624"/>
              </a:lnSpc>
              <a:buNone/>
            </a:pPr>
            <a:r>
              <a:rPr lang="en-US" sz="1750">
                <a:solidFill>
                  <a:srgbClr val="403C4E"/>
                </a:solidFill>
                <a:latin typeface="Open Sans" pitchFamily="34" charset="0"/>
                <a:ea typeface="Open Sans" pitchFamily="34" charset="-122"/>
                <a:cs typeface="Open Sans" pitchFamily="34" charset="-120"/>
              </a:rPr>
              <a:t>POS tagging and text analysis have applications in areas like search engines, content moderation, and language learning.</a:t>
            </a:r>
            <a:endParaRPr lang="en-US" sz="175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p:cNvPicPr>
            <a:picLocks noChangeAspect="1"/>
          </p:cNvPicPr>
          <p:nvPr/>
        </p:nvPicPr>
        <p:blipFill>
          <a:blip r:embed="rId4"/>
          <a:stretch>
            <a:fillRect/>
          </a:stretch>
        </p:blipFill>
        <p:spPr>
          <a:xfrm>
            <a:off x="-7620" y="0"/>
            <a:ext cx="5486400" cy="8229600"/>
          </a:xfrm>
          <a:prstGeom prst="rect">
            <a:avLst/>
          </a:prstGeom>
        </p:spPr>
      </p:pic>
      <p:sp>
        <p:nvSpPr>
          <p:cNvPr id="5" name="Text 1"/>
          <p:cNvSpPr/>
          <p:nvPr/>
        </p:nvSpPr>
        <p:spPr>
          <a:xfrm>
            <a:off x="6319599" y="1504236"/>
            <a:ext cx="7477601" cy="1388745"/>
          </a:xfrm>
          <a:prstGeom prst="rect">
            <a:avLst/>
          </a:prstGeom>
          <a:noFill/>
          <a:ln/>
        </p:spPr>
        <p:txBody>
          <a:bodyPr wrap="square" rtlCol="0" anchor="t"/>
          <a:lstStyle/>
          <a:p>
            <a:pPr marL="0" indent="0">
              <a:lnSpc>
                <a:spcPts val="5468"/>
              </a:lnSpc>
              <a:buNone/>
            </a:pPr>
            <a:r>
              <a:rPr lang="en-US" sz="4374" b="1">
                <a:solidFill>
                  <a:srgbClr val="403C4E"/>
                </a:solidFill>
                <a:latin typeface="Merriweather" pitchFamily="34" charset="0"/>
                <a:ea typeface="Merriweather" pitchFamily="34" charset="-122"/>
                <a:cs typeface="Merriweather" pitchFamily="34" charset="-120"/>
              </a:rPr>
              <a:t>Binary Classification of Flowers</a:t>
            </a:r>
            <a:endParaRPr lang="en-US" sz="4374"/>
          </a:p>
        </p:txBody>
      </p:sp>
      <p:sp>
        <p:nvSpPr>
          <p:cNvPr id="6" name="Text 2"/>
          <p:cNvSpPr/>
          <p:nvPr/>
        </p:nvSpPr>
        <p:spPr>
          <a:xfrm>
            <a:off x="6319599" y="3226237"/>
            <a:ext cx="7477601" cy="2332792"/>
          </a:xfrm>
          <a:prstGeom prst="rect">
            <a:avLst/>
          </a:prstGeom>
          <a:noFill/>
          <a:ln/>
        </p:spPr>
        <p:txBody>
          <a:bodyPr wrap="square" lIns="91440" tIns="45720" rIns="91440" bIns="45720" rtlCol="0" anchor="t"/>
          <a:lstStyle/>
          <a:p>
            <a:pPr>
              <a:lnSpc>
                <a:spcPts val="2624"/>
              </a:lnSpc>
            </a:pPr>
            <a:r>
              <a:rPr lang="en-US" sz="2000" dirty="0">
                <a:solidFill>
                  <a:srgbClr val="403C4E"/>
                </a:solidFill>
                <a:ea typeface="+mn-lt"/>
                <a:cs typeface="+mn-lt"/>
              </a:rPr>
              <a:t>Binary image classification of flowers involves categorizing images into two classes: distinguishing between  flowers such as dandelions and daisies. Using machine learning or deep learning algorithms, the model learns features from images to accurately classify them. This process is crucial in various fields such as agriculture, ecology, and botany for species identification, conservation efforts, and agricultural management.</a:t>
            </a:r>
            <a:endParaRPr lang="en-US" sz="2000" dirty="0">
              <a:ea typeface="+mn-lt"/>
              <a:cs typeface="+mn-lt"/>
            </a:endParaRPr>
          </a:p>
        </p:txBody>
      </p:sp>
      <p:sp>
        <p:nvSpPr>
          <p:cNvPr id="7" name="Text 3"/>
          <p:cNvSpPr/>
          <p:nvPr/>
        </p:nvSpPr>
        <p:spPr>
          <a:xfrm>
            <a:off x="6319599" y="5808940"/>
            <a:ext cx="7477601" cy="333256"/>
          </a:xfrm>
          <a:prstGeom prst="rect">
            <a:avLst/>
          </a:prstGeom>
          <a:noFill/>
          <a:ln/>
        </p:spPr>
        <p:txBody>
          <a:bodyPr wrap="none" rtlCol="0" anchor="t"/>
          <a:lstStyle/>
          <a:p>
            <a:pPr marL="0" indent="0">
              <a:lnSpc>
                <a:spcPts val="2624"/>
              </a:lnSpc>
              <a:buNone/>
            </a:pPr>
            <a:endParaRPr lang="en-US" sz="1750"/>
          </a:p>
        </p:txBody>
      </p:sp>
      <p:sp>
        <p:nvSpPr>
          <p:cNvPr id="8" name="Text 4"/>
          <p:cNvSpPr/>
          <p:nvPr/>
        </p:nvSpPr>
        <p:spPr>
          <a:xfrm>
            <a:off x="6319599" y="6392108"/>
            <a:ext cx="7477601" cy="333256"/>
          </a:xfrm>
          <a:prstGeom prst="rect">
            <a:avLst/>
          </a:prstGeom>
          <a:noFill/>
          <a:ln/>
        </p:spPr>
        <p:txBody>
          <a:bodyPr wrap="none" rtlCol="0" anchor="t"/>
          <a:lstStyle/>
          <a:p>
            <a:pPr marL="0" indent="0">
              <a:lnSpc>
                <a:spcPts val="2624"/>
              </a:lnSpc>
              <a:buNone/>
            </a:pPr>
            <a:endParaRPr lang="en-US" sz="175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p:cNvPicPr>
            <a:picLocks noChangeAspect="1"/>
          </p:cNvPicPr>
          <p:nvPr/>
        </p:nvPicPr>
        <p:blipFill>
          <a:blip r:embed="rId4"/>
          <a:stretch>
            <a:fillRect/>
          </a:stretch>
        </p:blipFill>
        <p:spPr>
          <a:xfrm>
            <a:off x="9151620" y="0"/>
            <a:ext cx="5486400" cy="8229600"/>
          </a:xfrm>
          <a:prstGeom prst="rect">
            <a:avLst/>
          </a:prstGeom>
        </p:spPr>
      </p:pic>
      <p:sp>
        <p:nvSpPr>
          <p:cNvPr id="5" name="Text 1"/>
          <p:cNvSpPr/>
          <p:nvPr/>
        </p:nvSpPr>
        <p:spPr>
          <a:xfrm>
            <a:off x="833199" y="1754148"/>
            <a:ext cx="7477601" cy="1388745"/>
          </a:xfrm>
          <a:prstGeom prst="rect">
            <a:avLst/>
          </a:prstGeom>
          <a:noFill/>
          <a:ln/>
        </p:spPr>
        <p:txBody>
          <a:bodyPr wrap="square" rtlCol="0" anchor="t"/>
          <a:lstStyle/>
          <a:p>
            <a:pPr marL="0" indent="0">
              <a:lnSpc>
                <a:spcPts val="5468"/>
              </a:lnSpc>
              <a:buNone/>
            </a:pPr>
            <a:r>
              <a:rPr lang="en-US" sz="4374" b="1">
                <a:solidFill>
                  <a:srgbClr val="403C4E"/>
                </a:solidFill>
                <a:latin typeface="Merriweather" pitchFamily="34" charset="0"/>
                <a:ea typeface="Merriweather" pitchFamily="34" charset="-122"/>
                <a:cs typeface="Merriweather" pitchFamily="34" charset="-120"/>
              </a:rPr>
              <a:t>Multiple Classification of Stanford Dogs</a:t>
            </a:r>
            <a:endParaRPr lang="en-US" sz="4374"/>
          </a:p>
        </p:txBody>
      </p:sp>
      <p:sp>
        <p:nvSpPr>
          <p:cNvPr id="6" name="Text 2"/>
          <p:cNvSpPr/>
          <p:nvPr/>
        </p:nvSpPr>
        <p:spPr>
          <a:xfrm>
            <a:off x="833199" y="3476149"/>
            <a:ext cx="7477601" cy="2999303"/>
          </a:xfrm>
          <a:prstGeom prst="rect">
            <a:avLst/>
          </a:prstGeom>
          <a:noFill/>
          <a:ln/>
        </p:spPr>
        <p:txBody>
          <a:bodyPr wrap="square" rtlCol="0" anchor="t"/>
          <a:lstStyle/>
          <a:p>
            <a:pPr marL="0" indent="0">
              <a:lnSpc>
                <a:spcPts val="2624"/>
              </a:lnSpc>
              <a:buNone/>
            </a:pPr>
            <a:r>
              <a:rPr lang="en-US" sz="1750">
                <a:solidFill>
                  <a:srgbClr val="403C4E"/>
                </a:solidFill>
                <a:latin typeface="Open Sans" pitchFamily="34" charset="0"/>
                <a:ea typeface="Open Sans" pitchFamily="34" charset="-122"/>
                <a:cs typeface="Open Sans" pitchFamily="34" charset="-120"/>
              </a:rPr>
              <a:t>Multiclass dog classification using the Stanford dataset involves categorizing images into multiple breeds. The process includes data collection, preprocessing (resizing, normalization, augmentation), and splitting data into training and testing sets. Annotations are used to label the images with the correct breed. Feature extraction is done using Convolutional Neural Networks (CNNs). Models like CNNs, ResNet, and Inception are used for their effectiveness in handling image data. Performance is evaluated with metrics like accuracy, precision, recall, and F1-score for each class.</a:t>
            </a:r>
            <a:endParaRPr lang="en-US" sz="175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p:cNvPicPr>
            <a:picLocks noChangeAspect="1"/>
          </p:cNvPicPr>
          <p:nvPr/>
        </p:nvPicPr>
        <p:blipFill>
          <a:blip r:embed="rId4"/>
          <a:stretch>
            <a:fillRect/>
          </a:stretch>
        </p:blipFill>
        <p:spPr>
          <a:xfrm>
            <a:off x="-7620" y="0"/>
            <a:ext cx="7315200" cy="8229600"/>
          </a:xfrm>
          <a:prstGeom prst="rect">
            <a:avLst/>
          </a:prstGeom>
        </p:spPr>
      </p:pic>
      <p:pic>
        <p:nvPicPr>
          <p:cNvPr id="5" name="Image 2" descr="preencoded.png"/>
          <p:cNvPicPr>
            <a:picLocks noChangeAspect="1"/>
          </p:cNvPicPr>
          <p:nvPr/>
        </p:nvPicPr>
        <p:blipFill>
          <a:blip r:embed="rId5"/>
          <a:stretch>
            <a:fillRect/>
          </a:stretch>
        </p:blipFill>
        <p:spPr>
          <a:xfrm>
            <a:off x="270034" y="1010841"/>
            <a:ext cx="6759773" cy="6207800"/>
          </a:xfrm>
          <a:prstGeom prst="rect">
            <a:avLst/>
          </a:prstGeom>
        </p:spPr>
      </p:pic>
      <p:sp>
        <p:nvSpPr>
          <p:cNvPr id="6" name="Text 1"/>
          <p:cNvSpPr/>
          <p:nvPr/>
        </p:nvSpPr>
        <p:spPr>
          <a:xfrm>
            <a:off x="8148399" y="1344454"/>
            <a:ext cx="5648801" cy="2874645"/>
          </a:xfrm>
          <a:prstGeom prst="rect">
            <a:avLst/>
          </a:prstGeom>
          <a:noFill/>
          <a:ln/>
        </p:spPr>
        <p:txBody>
          <a:bodyPr wrap="square" rtlCol="0" anchor="t"/>
          <a:lstStyle/>
          <a:p>
            <a:pPr marL="0" indent="0">
              <a:lnSpc>
                <a:spcPts val="7545"/>
              </a:lnSpc>
              <a:buNone/>
            </a:pPr>
            <a:r>
              <a:rPr lang="en-US" sz="6036" b="1">
                <a:solidFill>
                  <a:srgbClr val="403C4E"/>
                </a:solidFill>
                <a:latin typeface="Merriweather" pitchFamily="34" charset="0"/>
                <a:ea typeface="Merriweather" pitchFamily="34" charset="-122"/>
                <a:cs typeface="Merriweather" pitchFamily="34" charset="-120"/>
              </a:rPr>
              <a:t>Facial Emotion Detection</a:t>
            </a:r>
            <a:endParaRPr lang="en-US" sz="6036"/>
          </a:p>
        </p:txBody>
      </p:sp>
      <p:sp>
        <p:nvSpPr>
          <p:cNvPr id="7" name="Text 2"/>
          <p:cNvSpPr/>
          <p:nvPr/>
        </p:nvSpPr>
        <p:spPr>
          <a:xfrm>
            <a:off x="8148399" y="4552355"/>
            <a:ext cx="5648801" cy="2332792"/>
          </a:xfrm>
          <a:prstGeom prst="rect">
            <a:avLst/>
          </a:prstGeom>
          <a:noFill/>
          <a:ln/>
        </p:spPr>
        <p:txBody>
          <a:bodyPr wrap="square" rtlCol="0" anchor="t"/>
          <a:lstStyle/>
          <a:p>
            <a:pPr marL="0" indent="0">
              <a:lnSpc>
                <a:spcPts val="2624"/>
              </a:lnSpc>
              <a:buNone/>
            </a:pPr>
            <a:r>
              <a:rPr lang="en-US" sz="1750">
                <a:solidFill>
                  <a:srgbClr val="403C4E"/>
                </a:solidFill>
                <a:latin typeface="Open Sans" pitchFamily="34" charset="0"/>
                <a:ea typeface="Open Sans" pitchFamily="34" charset="-122"/>
                <a:cs typeface="Open Sans" pitchFamily="34" charset="-120"/>
              </a:rPr>
              <a:t>Facial emotion detection is a technology that uses computer vision and machine learning to identify and analyze the emotions expressed on a person's face. It can detect emotions such as happiness, sadness, anger, surprise, and more. This technology has applications in various fields, including psychology, market research, and human-computer interaction.</a:t>
            </a:r>
            <a:endParaRPr lang="en-US" sz="175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
        <p:nvSpPr>
          <p:cNvPr id="4" name="Text 1"/>
          <p:cNvSpPr/>
          <p:nvPr/>
        </p:nvSpPr>
        <p:spPr>
          <a:xfrm>
            <a:off x="2037993" y="1852732"/>
            <a:ext cx="10230088" cy="958215"/>
          </a:xfrm>
          <a:prstGeom prst="rect">
            <a:avLst/>
          </a:prstGeom>
          <a:noFill/>
          <a:ln/>
        </p:spPr>
        <p:txBody>
          <a:bodyPr wrap="none" rtlCol="0" anchor="t"/>
          <a:lstStyle/>
          <a:p>
            <a:pPr marL="0" indent="0">
              <a:lnSpc>
                <a:spcPts val="7545"/>
              </a:lnSpc>
              <a:buNone/>
            </a:pPr>
            <a:r>
              <a:rPr lang="en-US" sz="6036" b="1">
                <a:solidFill>
                  <a:srgbClr val="403C4E"/>
                </a:solidFill>
                <a:latin typeface="Merriweather" pitchFamily="34" charset="0"/>
                <a:ea typeface="Merriweather" pitchFamily="34" charset="-122"/>
                <a:cs typeface="Merriweather" pitchFamily="34" charset="-120"/>
              </a:rPr>
              <a:t>Facial Recognition Dataset</a:t>
            </a:r>
            <a:endParaRPr lang="en-US" sz="6036"/>
          </a:p>
        </p:txBody>
      </p:sp>
      <p:sp>
        <p:nvSpPr>
          <p:cNvPr id="5" name="Text 2"/>
          <p:cNvSpPr/>
          <p:nvPr/>
        </p:nvSpPr>
        <p:spPr>
          <a:xfrm>
            <a:off x="2393394" y="3144203"/>
            <a:ext cx="10199013" cy="666512"/>
          </a:xfrm>
          <a:prstGeom prst="rect">
            <a:avLst/>
          </a:prstGeom>
          <a:noFill/>
          <a:ln/>
        </p:spPr>
        <p:txBody>
          <a:bodyPr wrap="square" rtlCol="0" anchor="t"/>
          <a:lstStyle/>
          <a:p>
            <a:pPr marL="342900" indent="-342900" algn="l">
              <a:lnSpc>
                <a:spcPts val="2624"/>
              </a:lnSpc>
              <a:buSzPct val="100000"/>
              <a:buChar char="•"/>
            </a:pPr>
            <a:r>
              <a:rPr lang="en-US" sz="1750">
                <a:solidFill>
                  <a:srgbClr val="403C4E"/>
                </a:solidFill>
                <a:latin typeface="Open Sans" pitchFamily="34" charset="0"/>
                <a:ea typeface="Open Sans" pitchFamily="34" charset="-122"/>
                <a:cs typeface="Open Sans" pitchFamily="34" charset="-120"/>
              </a:rPr>
              <a:t>The dataset contains folders with different expressions of the human face including Surprise, Anger, Happiness, Sad, Neutral, Disgust, and Fear.</a:t>
            </a:r>
            <a:endParaRPr lang="en-US" sz="1750"/>
          </a:p>
        </p:txBody>
      </p:sp>
      <p:sp>
        <p:nvSpPr>
          <p:cNvPr id="6" name="Text 3"/>
          <p:cNvSpPr/>
          <p:nvPr/>
        </p:nvSpPr>
        <p:spPr>
          <a:xfrm>
            <a:off x="2393394" y="3888462"/>
            <a:ext cx="10199013" cy="666512"/>
          </a:xfrm>
          <a:prstGeom prst="rect">
            <a:avLst/>
          </a:prstGeom>
          <a:noFill/>
          <a:ln/>
        </p:spPr>
        <p:txBody>
          <a:bodyPr wrap="square" rtlCol="0" anchor="t"/>
          <a:lstStyle/>
          <a:p>
            <a:pPr marL="342900" indent="-342900" algn="l">
              <a:lnSpc>
                <a:spcPts val="2624"/>
              </a:lnSpc>
              <a:buSzPct val="100000"/>
              <a:buChar char="•"/>
            </a:pPr>
            <a:r>
              <a:rPr lang="en-US" sz="1750">
                <a:solidFill>
                  <a:srgbClr val="403C4E"/>
                </a:solidFill>
                <a:latin typeface="Open Sans" pitchFamily="34" charset="0"/>
                <a:ea typeface="Open Sans" pitchFamily="34" charset="-122"/>
                <a:cs typeface="Open Sans" pitchFamily="34" charset="-120"/>
              </a:rPr>
              <a:t>The folders are split into two super-folders, Training and Testing, making it easier for the end user to configure any model using this data.</a:t>
            </a:r>
            <a:endParaRPr lang="en-US" sz="1750"/>
          </a:p>
        </p:txBody>
      </p:sp>
      <p:sp>
        <p:nvSpPr>
          <p:cNvPr id="7" name="Text 4"/>
          <p:cNvSpPr/>
          <p:nvPr/>
        </p:nvSpPr>
        <p:spPr>
          <a:xfrm>
            <a:off x="2393394" y="4632722"/>
            <a:ext cx="10199013" cy="666512"/>
          </a:xfrm>
          <a:prstGeom prst="rect">
            <a:avLst/>
          </a:prstGeom>
          <a:noFill/>
          <a:ln/>
        </p:spPr>
        <p:txBody>
          <a:bodyPr wrap="square" rtlCol="0" anchor="t"/>
          <a:lstStyle/>
          <a:p>
            <a:pPr marL="342900" indent="-342900" algn="l">
              <a:lnSpc>
                <a:spcPts val="2624"/>
              </a:lnSpc>
              <a:buSzPct val="100000"/>
              <a:buChar char="•"/>
            </a:pPr>
            <a:r>
              <a:rPr lang="en-US" sz="1750">
                <a:solidFill>
                  <a:srgbClr val="403C4E"/>
                </a:solidFill>
                <a:latin typeface="Open Sans" pitchFamily="34" charset="0"/>
                <a:ea typeface="Open Sans" pitchFamily="34" charset="-122"/>
                <a:cs typeface="Open Sans" pitchFamily="34" charset="-120"/>
              </a:rPr>
              <a:t>The training set consists of 28,079 samples in total, while the testing set consists of 7,178 samples in total.</a:t>
            </a:r>
            <a:endParaRPr lang="en-US" sz="1750"/>
          </a:p>
        </p:txBody>
      </p:sp>
      <p:sp>
        <p:nvSpPr>
          <p:cNvPr id="8" name="Text 5"/>
          <p:cNvSpPr/>
          <p:nvPr/>
        </p:nvSpPr>
        <p:spPr>
          <a:xfrm>
            <a:off x="2393394" y="5376982"/>
            <a:ext cx="10199013" cy="999768"/>
          </a:xfrm>
          <a:prstGeom prst="rect">
            <a:avLst/>
          </a:prstGeom>
          <a:noFill/>
          <a:ln/>
        </p:spPr>
        <p:txBody>
          <a:bodyPr wrap="square" rtlCol="0" anchor="t"/>
          <a:lstStyle/>
          <a:p>
            <a:pPr marL="342900" indent="-342900" algn="l">
              <a:lnSpc>
                <a:spcPts val="2624"/>
              </a:lnSpc>
              <a:buSzPct val="100000"/>
              <a:buChar char="•"/>
            </a:pPr>
            <a:r>
              <a:rPr lang="en-US" sz="1750">
                <a:solidFill>
                  <a:srgbClr val="403C4E"/>
                </a:solidFill>
                <a:latin typeface="Open Sans" pitchFamily="34" charset="0"/>
                <a:ea typeface="Open Sans" pitchFamily="34" charset="-122"/>
                <a:cs typeface="Open Sans" pitchFamily="34" charset="-120"/>
              </a:rPr>
              <a:t>The data consists of 48x48 pixel grayscale images of faces that have been automatically registered, so that the face is more or less centered and occupies about the same amount of space in each image.</a:t>
            </a:r>
            <a:endParaRPr lang="en-US" sz="175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p:cNvPicPr>
            <a:picLocks noChangeAspect="1"/>
          </p:cNvPicPr>
          <p:nvPr/>
        </p:nvPicPr>
        <p:blipFill>
          <a:blip r:embed="rId4"/>
          <a:stretch>
            <a:fillRect/>
          </a:stretch>
        </p:blipFill>
        <p:spPr>
          <a:xfrm>
            <a:off x="0" y="0"/>
            <a:ext cx="14630400" cy="8229600"/>
          </a:xfrm>
          <a:prstGeom prst="rect">
            <a:avLst/>
          </a:prstGeom>
        </p:spPr>
      </p:pic>
      <p:sp>
        <p:nvSpPr>
          <p:cNvPr id="5" name="Shape 1"/>
          <p:cNvSpPr/>
          <p:nvPr/>
        </p:nvSpPr>
        <p:spPr>
          <a:xfrm>
            <a:off x="0" y="0"/>
            <a:ext cx="14630400" cy="8229600"/>
          </a:xfrm>
          <a:prstGeom prst="rect">
            <a:avLst/>
          </a:prstGeom>
          <a:solidFill>
            <a:srgbClr val="FFFFFF">
              <a:alpha val="85000"/>
            </a:srgbClr>
          </a:solidFill>
          <a:ln/>
        </p:spPr>
      </p:sp>
      <p:sp>
        <p:nvSpPr>
          <p:cNvPr id="6" name="Text 2"/>
          <p:cNvSpPr/>
          <p:nvPr/>
        </p:nvSpPr>
        <p:spPr>
          <a:xfrm>
            <a:off x="2037993" y="1431965"/>
            <a:ext cx="10554414" cy="1388745"/>
          </a:xfrm>
          <a:prstGeom prst="rect">
            <a:avLst/>
          </a:prstGeom>
          <a:noFill/>
          <a:ln/>
        </p:spPr>
        <p:txBody>
          <a:bodyPr wrap="square" rtlCol="0" anchor="t"/>
          <a:lstStyle/>
          <a:p>
            <a:pPr marL="0" indent="0">
              <a:lnSpc>
                <a:spcPts val="5468"/>
              </a:lnSpc>
              <a:buNone/>
            </a:pPr>
            <a:r>
              <a:rPr lang="en-US" sz="4374" b="1">
                <a:solidFill>
                  <a:srgbClr val="403C4E"/>
                </a:solidFill>
                <a:latin typeface="Merriweather" pitchFamily="34" charset="0"/>
                <a:ea typeface="Merriweather" pitchFamily="34" charset="-122"/>
                <a:cs typeface="Merriweather" pitchFamily="34" charset="-120"/>
              </a:rPr>
              <a:t>Facial Emotion Detection Implementation using VGG16</a:t>
            </a:r>
            <a:endParaRPr lang="en-US" sz="4374"/>
          </a:p>
        </p:txBody>
      </p:sp>
      <p:sp>
        <p:nvSpPr>
          <p:cNvPr id="7" name="Text 3"/>
          <p:cNvSpPr/>
          <p:nvPr/>
        </p:nvSpPr>
        <p:spPr>
          <a:xfrm>
            <a:off x="2393394" y="3153966"/>
            <a:ext cx="10199013" cy="333256"/>
          </a:xfrm>
          <a:prstGeom prst="rect">
            <a:avLst/>
          </a:prstGeom>
          <a:noFill/>
          <a:ln/>
        </p:spPr>
        <p:txBody>
          <a:bodyPr wrap="none" rtlCol="0" anchor="t"/>
          <a:lstStyle/>
          <a:p>
            <a:pPr marL="342900" indent="-342900" algn="l">
              <a:lnSpc>
                <a:spcPts val="2624"/>
              </a:lnSpc>
              <a:buSzPct val="100000"/>
              <a:buChar char="•"/>
            </a:pPr>
            <a:r>
              <a:rPr lang="en-US" sz="1750">
                <a:solidFill>
                  <a:srgbClr val="403C4E"/>
                </a:solidFill>
                <a:latin typeface="Open Sans" pitchFamily="34" charset="0"/>
                <a:ea typeface="Open Sans" pitchFamily="34" charset="-122"/>
                <a:cs typeface="Open Sans" pitchFamily="34" charset="-120"/>
              </a:rPr>
              <a:t>We used the VGG16 deep learning model to develop a facial emotion detection system.</a:t>
            </a:r>
            <a:endParaRPr lang="en-US" sz="1750"/>
          </a:p>
        </p:txBody>
      </p:sp>
      <p:sp>
        <p:nvSpPr>
          <p:cNvPr id="8" name="Text 4"/>
          <p:cNvSpPr/>
          <p:nvPr/>
        </p:nvSpPr>
        <p:spPr>
          <a:xfrm>
            <a:off x="2393394" y="3564969"/>
            <a:ext cx="10199013" cy="666512"/>
          </a:xfrm>
          <a:prstGeom prst="rect">
            <a:avLst/>
          </a:prstGeom>
          <a:noFill/>
          <a:ln/>
        </p:spPr>
        <p:txBody>
          <a:bodyPr wrap="square" rtlCol="0" anchor="t"/>
          <a:lstStyle/>
          <a:p>
            <a:pPr marL="342900" indent="-342900" algn="l">
              <a:lnSpc>
                <a:spcPts val="2624"/>
              </a:lnSpc>
              <a:buSzPct val="100000"/>
              <a:buChar char="•"/>
            </a:pPr>
            <a:r>
              <a:rPr lang="en-US" sz="1750">
                <a:solidFill>
                  <a:srgbClr val="403C4E"/>
                </a:solidFill>
                <a:latin typeface="Open Sans" pitchFamily="34" charset="0"/>
                <a:ea typeface="Open Sans" pitchFamily="34" charset="-122"/>
                <a:cs typeface="Open Sans" pitchFamily="34" charset="-120"/>
              </a:rPr>
              <a:t>The model was trained on a diverse dataset consisting of thousands of labeled facial images to accurately classify emotions expressed by individuals of different ages, genders, and ethnicities.</a:t>
            </a:r>
            <a:endParaRPr lang="en-US" sz="1750"/>
          </a:p>
        </p:txBody>
      </p:sp>
      <p:sp>
        <p:nvSpPr>
          <p:cNvPr id="9" name="Text 5"/>
          <p:cNvSpPr/>
          <p:nvPr/>
        </p:nvSpPr>
        <p:spPr>
          <a:xfrm>
            <a:off x="2393394" y="4309229"/>
            <a:ext cx="10199013" cy="666512"/>
          </a:xfrm>
          <a:prstGeom prst="rect">
            <a:avLst/>
          </a:prstGeom>
          <a:noFill/>
          <a:ln/>
        </p:spPr>
        <p:txBody>
          <a:bodyPr wrap="square" rtlCol="0" anchor="t"/>
          <a:lstStyle/>
          <a:p>
            <a:pPr marL="342900" indent="-342900" algn="l">
              <a:lnSpc>
                <a:spcPts val="2624"/>
              </a:lnSpc>
              <a:buSzPct val="100000"/>
              <a:buChar char="•"/>
            </a:pPr>
            <a:r>
              <a:rPr lang="en-US" sz="1750">
                <a:solidFill>
                  <a:srgbClr val="403C4E"/>
                </a:solidFill>
                <a:latin typeface="Open Sans" pitchFamily="34" charset="0"/>
                <a:ea typeface="Open Sans" pitchFamily="34" charset="-122"/>
                <a:cs typeface="Open Sans" pitchFamily="34" charset="-120"/>
              </a:rPr>
              <a:t>The VGG16 model is composed of multiple layers that help in extracting meaningful features from the input images, making it ideal for image classification tasks.</a:t>
            </a:r>
            <a:endParaRPr lang="en-US" sz="1750"/>
          </a:p>
        </p:txBody>
      </p:sp>
      <p:sp>
        <p:nvSpPr>
          <p:cNvPr id="10" name="Text 6"/>
          <p:cNvSpPr/>
          <p:nvPr/>
        </p:nvSpPr>
        <p:spPr>
          <a:xfrm>
            <a:off x="2393394" y="5053489"/>
            <a:ext cx="10199013" cy="666512"/>
          </a:xfrm>
          <a:prstGeom prst="rect">
            <a:avLst/>
          </a:prstGeom>
          <a:noFill/>
          <a:ln/>
        </p:spPr>
        <p:txBody>
          <a:bodyPr wrap="square" rtlCol="0" anchor="t"/>
          <a:lstStyle/>
          <a:p>
            <a:pPr marL="342900" indent="-342900" algn="l">
              <a:lnSpc>
                <a:spcPts val="2624"/>
              </a:lnSpc>
              <a:buSzPct val="100000"/>
              <a:buChar char="•"/>
            </a:pPr>
            <a:r>
              <a:rPr lang="en-US" sz="1750">
                <a:solidFill>
                  <a:srgbClr val="403C4E"/>
                </a:solidFill>
                <a:latin typeface="Open Sans" pitchFamily="34" charset="0"/>
                <a:ea typeface="Open Sans" pitchFamily="34" charset="-122"/>
                <a:cs typeface="Open Sans" pitchFamily="34" charset="-120"/>
              </a:rPr>
              <a:t>We initialized the VGG16 model with pre-trained weights on a large-scale image classification dataset using transfer learning.</a:t>
            </a:r>
            <a:endParaRPr lang="en-US" sz="1750"/>
          </a:p>
        </p:txBody>
      </p:sp>
      <p:sp>
        <p:nvSpPr>
          <p:cNvPr id="11" name="Text 7"/>
          <p:cNvSpPr/>
          <p:nvPr/>
        </p:nvSpPr>
        <p:spPr>
          <a:xfrm>
            <a:off x="2393394" y="5797748"/>
            <a:ext cx="10199013" cy="999768"/>
          </a:xfrm>
          <a:prstGeom prst="rect">
            <a:avLst/>
          </a:prstGeom>
          <a:noFill/>
          <a:ln/>
        </p:spPr>
        <p:txBody>
          <a:bodyPr wrap="square" rtlCol="0" anchor="t"/>
          <a:lstStyle/>
          <a:p>
            <a:pPr marL="342900" indent="-342900" algn="l">
              <a:lnSpc>
                <a:spcPts val="2624"/>
              </a:lnSpc>
              <a:buSzPct val="100000"/>
              <a:buChar char="•"/>
            </a:pPr>
            <a:r>
              <a:rPr lang="en-US" sz="1750">
                <a:solidFill>
                  <a:srgbClr val="403C4E"/>
                </a:solidFill>
                <a:latin typeface="Open Sans" pitchFamily="34" charset="0"/>
                <a:ea typeface="Open Sans" pitchFamily="34" charset="-122"/>
                <a:cs typeface="Open Sans" pitchFamily="34" charset="-120"/>
              </a:rPr>
              <a:t>Our model achieved an accuracy of 81.43% with a loss of 0.51 in emotion detection results, and can be used to analyze real-time or pre-recorded video footage, webcam streams, or images to detect and classify emotions accurately.</a:t>
            </a:r>
            <a:endParaRPr lang="en-US" sz="175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
        <p:nvSpPr>
          <p:cNvPr id="4" name="Text 1"/>
          <p:cNvSpPr/>
          <p:nvPr/>
        </p:nvSpPr>
        <p:spPr>
          <a:xfrm>
            <a:off x="2037993" y="699611"/>
            <a:ext cx="5554980" cy="694373"/>
          </a:xfrm>
          <a:prstGeom prst="rect">
            <a:avLst/>
          </a:prstGeom>
          <a:noFill/>
          <a:ln/>
        </p:spPr>
        <p:txBody>
          <a:bodyPr wrap="none" rtlCol="0" anchor="t"/>
          <a:lstStyle/>
          <a:p>
            <a:pPr marL="0" indent="0">
              <a:lnSpc>
                <a:spcPts val="5468"/>
              </a:lnSpc>
              <a:buNone/>
            </a:pPr>
            <a:r>
              <a:rPr lang="en-US" sz="4374" b="1">
                <a:solidFill>
                  <a:srgbClr val="403C4E"/>
                </a:solidFill>
                <a:latin typeface="Merriweather" pitchFamily="34" charset="0"/>
                <a:ea typeface="Merriweather" pitchFamily="34" charset="-122"/>
                <a:cs typeface="Merriweather" pitchFamily="34" charset="-120"/>
              </a:rPr>
              <a:t>Code Snippet:</a:t>
            </a:r>
            <a:endParaRPr lang="en-US" sz="4374"/>
          </a:p>
        </p:txBody>
      </p:sp>
      <p:pic>
        <p:nvPicPr>
          <p:cNvPr id="5" name="Image 1" descr="preencoded.png"/>
          <p:cNvPicPr>
            <a:picLocks noChangeAspect="1"/>
          </p:cNvPicPr>
          <p:nvPr/>
        </p:nvPicPr>
        <p:blipFill>
          <a:blip r:embed="rId4"/>
          <a:stretch>
            <a:fillRect/>
          </a:stretch>
        </p:blipFill>
        <p:spPr>
          <a:xfrm>
            <a:off x="2037993" y="1838325"/>
            <a:ext cx="10554414" cy="569166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2F2F2"/>
          </a:solidFill>
          <a:ln/>
        </p:spPr>
      </p:sp>
      <p:sp>
        <p:nvSpPr>
          <p:cNvPr id="4" name="Text 1"/>
          <p:cNvSpPr/>
          <p:nvPr/>
        </p:nvSpPr>
        <p:spPr>
          <a:xfrm>
            <a:off x="2037993" y="1444228"/>
            <a:ext cx="7990999" cy="694373"/>
          </a:xfrm>
          <a:prstGeom prst="rect">
            <a:avLst/>
          </a:prstGeom>
          <a:noFill/>
          <a:ln/>
        </p:spPr>
        <p:txBody>
          <a:bodyPr wrap="none" rtlCol="0" anchor="t"/>
          <a:lstStyle/>
          <a:p>
            <a:pPr marL="0" indent="0">
              <a:lnSpc>
                <a:spcPts val="5468"/>
              </a:lnSpc>
              <a:buNone/>
            </a:pPr>
            <a:r>
              <a:rPr lang="en-US" sz="4374" b="1">
                <a:solidFill>
                  <a:srgbClr val="403C4E"/>
                </a:solidFill>
                <a:latin typeface="Merriweather" pitchFamily="34" charset="0"/>
                <a:ea typeface="Merriweather" pitchFamily="34" charset="-122"/>
                <a:cs typeface="Merriweather" pitchFamily="34" charset="-120"/>
              </a:rPr>
              <a:t>Results : Predicted Emotions</a:t>
            </a:r>
            <a:endParaRPr lang="en-US" sz="4374"/>
          </a:p>
        </p:txBody>
      </p:sp>
      <p:pic>
        <p:nvPicPr>
          <p:cNvPr id="5" name="Image 1" descr="preencoded.png"/>
          <p:cNvPicPr>
            <a:picLocks noChangeAspect="1"/>
          </p:cNvPicPr>
          <p:nvPr/>
        </p:nvPicPr>
        <p:blipFill>
          <a:blip r:embed="rId4"/>
          <a:stretch>
            <a:fillRect/>
          </a:stretch>
        </p:blipFill>
        <p:spPr>
          <a:xfrm>
            <a:off x="3018592" y="2726055"/>
            <a:ext cx="2999542" cy="3332917"/>
          </a:xfrm>
          <a:prstGeom prst="rect">
            <a:avLst/>
          </a:prstGeom>
        </p:spPr>
      </p:pic>
      <p:pic>
        <p:nvPicPr>
          <p:cNvPr id="6" name="Image 2" descr="preencoded.png"/>
          <p:cNvPicPr>
            <a:picLocks noChangeAspect="1"/>
          </p:cNvPicPr>
          <p:nvPr/>
        </p:nvPicPr>
        <p:blipFill>
          <a:blip r:embed="rId5"/>
          <a:stretch>
            <a:fillRect/>
          </a:stretch>
        </p:blipFill>
        <p:spPr>
          <a:xfrm>
            <a:off x="6195774" y="2726055"/>
            <a:ext cx="2716292" cy="3332917"/>
          </a:xfrm>
          <a:prstGeom prst="rect">
            <a:avLst/>
          </a:prstGeom>
        </p:spPr>
      </p:pic>
      <p:pic>
        <p:nvPicPr>
          <p:cNvPr id="7" name="Image 3" descr="preencoded.png"/>
          <p:cNvPicPr>
            <a:picLocks noChangeAspect="1"/>
          </p:cNvPicPr>
          <p:nvPr/>
        </p:nvPicPr>
        <p:blipFill>
          <a:blip r:embed="rId6"/>
          <a:stretch>
            <a:fillRect/>
          </a:stretch>
        </p:blipFill>
        <p:spPr>
          <a:xfrm>
            <a:off x="9089708" y="2726055"/>
            <a:ext cx="2699623" cy="3332917"/>
          </a:xfrm>
          <a:prstGeom prst="rect">
            <a:avLst/>
          </a:prstGeom>
        </p:spPr>
      </p:pic>
      <p:sp>
        <p:nvSpPr>
          <p:cNvPr id="8" name="Text 2"/>
          <p:cNvSpPr/>
          <p:nvPr/>
        </p:nvSpPr>
        <p:spPr>
          <a:xfrm>
            <a:off x="2037993" y="6451997"/>
            <a:ext cx="10554414" cy="333256"/>
          </a:xfrm>
          <a:prstGeom prst="rect">
            <a:avLst/>
          </a:prstGeom>
          <a:noFill/>
          <a:ln/>
        </p:spPr>
        <p:txBody>
          <a:bodyPr wrap="none" rtlCol="0" anchor="t"/>
          <a:lstStyle/>
          <a:p>
            <a:pPr marL="0" indent="0">
              <a:lnSpc>
                <a:spcPts val="2624"/>
              </a:lnSpc>
              <a:buNone/>
            </a:pPr>
            <a:endParaRPr lang="en-US" sz="175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
        <p:nvSpPr>
          <p:cNvPr id="4" name="Text 1"/>
          <p:cNvSpPr/>
          <p:nvPr/>
        </p:nvSpPr>
        <p:spPr>
          <a:xfrm>
            <a:off x="2037993" y="1758315"/>
            <a:ext cx="10554414" cy="1388745"/>
          </a:xfrm>
          <a:prstGeom prst="rect">
            <a:avLst/>
          </a:prstGeom>
          <a:noFill/>
          <a:ln/>
        </p:spPr>
        <p:txBody>
          <a:bodyPr wrap="square" rtlCol="0" anchor="t"/>
          <a:lstStyle/>
          <a:p>
            <a:pPr marL="0" indent="0">
              <a:lnSpc>
                <a:spcPts val="5468"/>
              </a:lnSpc>
              <a:buNone/>
            </a:pPr>
            <a:r>
              <a:rPr lang="en-US" sz="4374" b="1">
                <a:solidFill>
                  <a:srgbClr val="403C4E"/>
                </a:solidFill>
                <a:latin typeface="Merriweather" pitchFamily="34" charset="0"/>
                <a:ea typeface="Merriweather" pitchFamily="34" charset="-122"/>
                <a:cs typeface="Merriweather" pitchFamily="34" charset="-120"/>
              </a:rPr>
              <a:t>Image Processing and Deep Learning Relevance</a:t>
            </a:r>
            <a:endParaRPr lang="en-US" sz="4374"/>
          </a:p>
        </p:txBody>
      </p:sp>
      <p:sp>
        <p:nvSpPr>
          <p:cNvPr id="5" name="Text 2"/>
          <p:cNvSpPr/>
          <p:nvPr/>
        </p:nvSpPr>
        <p:spPr>
          <a:xfrm>
            <a:off x="2037993" y="3702487"/>
            <a:ext cx="2777490" cy="347186"/>
          </a:xfrm>
          <a:prstGeom prst="rect">
            <a:avLst/>
          </a:prstGeom>
          <a:noFill/>
          <a:ln/>
        </p:spPr>
        <p:txBody>
          <a:bodyPr wrap="none" rtlCol="0" anchor="t"/>
          <a:lstStyle/>
          <a:p>
            <a:pPr marL="0" indent="0">
              <a:lnSpc>
                <a:spcPts val="2734"/>
              </a:lnSpc>
              <a:buNone/>
            </a:pPr>
            <a:r>
              <a:rPr lang="en-US" sz="2187" b="1">
                <a:solidFill>
                  <a:srgbClr val="403C4E"/>
                </a:solidFill>
                <a:latin typeface="Merriweather" pitchFamily="34" charset="0"/>
                <a:ea typeface="Merriweather" pitchFamily="34" charset="-122"/>
                <a:cs typeface="Merriweather" pitchFamily="34" charset="-120"/>
              </a:rPr>
              <a:t>Computer Vision</a:t>
            </a:r>
            <a:endParaRPr lang="en-US" sz="2187"/>
          </a:p>
        </p:txBody>
      </p:sp>
      <p:sp>
        <p:nvSpPr>
          <p:cNvPr id="6" name="Text 3"/>
          <p:cNvSpPr/>
          <p:nvPr/>
        </p:nvSpPr>
        <p:spPr>
          <a:xfrm>
            <a:off x="2037993" y="4271843"/>
            <a:ext cx="3156347" cy="1999536"/>
          </a:xfrm>
          <a:prstGeom prst="rect">
            <a:avLst/>
          </a:prstGeom>
          <a:noFill/>
          <a:ln/>
        </p:spPr>
        <p:txBody>
          <a:bodyPr wrap="square" rtlCol="0" anchor="t"/>
          <a:lstStyle/>
          <a:p>
            <a:pPr marL="0" indent="0">
              <a:lnSpc>
                <a:spcPts val="2624"/>
              </a:lnSpc>
              <a:buNone/>
            </a:pPr>
            <a:r>
              <a:rPr lang="en-US" sz="1750">
                <a:solidFill>
                  <a:srgbClr val="403C4E"/>
                </a:solidFill>
                <a:latin typeface="Open Sans" pitchFamily="34" charset="0"/>
                <a:ea typeface="Open Sans" pitchFamily="34" charset="-122"/>
                <a:cs typeface="Open Sans" pitchFamily="34" charset="-120"/>
              </a:rPr>
              <a:t>Deep learning models can be trained to analyze and understand the content of images, enabling applications like object detection and facial recognition.</a:t>
            </a:r>
            <a:endParaRPr lang="en-US" sz="1750"/>
          </a:p>
        </p:txBody>
      </p:sp>
      <p:sp>
        <p:nvSpPr>
          <p:cNvPr id="7" name="Text 4"/>
          <p:cNvSpPr/>
          <p:nvPr/>
        </p:nvSpPr>
        <p:spPr>
          <a:xfrm>
            <a:off x="5743932" y="3702487"/>
            <a:ext cx="2880122" cy="347186"/>
          </a:xfrm>
          <a:prstGeom prst="rect">
            <a:avLst/>
          </a:prstGeom>
          <a:noFill/>
          <a:ln/>
        </p:spPr>
        <p:txBody>
          <a:bodyPr wrap="none" rtlCol="0" anchor="t"/>
          <a:lstStyle/>
          <a:p>
            <a:pPr marL="0" indent="0">
              <a:lnSpc>
                <a:spcPts val="2734"/>
              </a:lnSpc>
              <a:buNone/>
            </a:pPr>
            <a:r>
              <a:rPr lang="en-US" sz="2187" b="1">
                <a:solidFill>
                  <a:srgbClr val="403C4E"/>
                </a:solidFill>
                <a:latin typeface="Merriweather" pitchFamily="34" charset="0"/>
                <a:ea typeface="Merriweather" pitchFamily="34" charset="-122"/>
                <a:cs typeface="Merriweather" pitchFamily="34" charset="-120"/>
              </a:rPr>
              <a:t>Image Enhancement</a:t>
            </a:r>
            <a:endParaRPr lang="en-US" sz="2187"/>
          </a:p>
        </p:txBody>
      </p:sp>
      <p:sp>
        <p:nvSpPr>
          <p:cNvPr id="8" name="Text 5"/>
          <p:cNvSpPr/>
          <p:nvPr/>
        </p:nvSpPr>
        <p:spPr>
          <a:xfrm>
            <a:off x="5743932" y="4271843"/>
            <a:ext cx="3156347" cy="1666280"/>
          </a:xfrm>
          <a:prstGeom prst="rect">
            <a:avLst/>
          </a:prstGeom>
          <a:noFill/>
          <a:ln/>
        </p:spPr>
        <p:txBody>
          <a:bodyPr wrap="square" rtlCol="0" anchor="t"/>
          <a:lstStyle/>
          <a:p>
            <a:pPr marL="0" indent="0">
              <a:lnSpc>
                <a:spcPts val="2624"/>
              </a:lnSpc>
              <a:buNone/>
            </a:pPr>
            <a:r>
              <a:rPr lang="en-US" sz="1750">
                <a:solidFill>
                  <a:srgbClr val="403C4E"/>
                </a:solidFill>
                <a:latin typeface="Open Sans" pitchFamily="34" charset="0"/>
                <a:ea typeface="Open Sans" pitchFamily="34" charset="-122"/>
                <a:cs typeface="Open Sans" pitchFamily="34" charset="-120"/>
              </a:rPr>
              <a:t>Deep learning techniques can be used to improve image quality, remove noise, and enhance features like edges and textures.</a:t>
            </a:r>
            <a:endParaRPr lang="en-US" sz="1750"/>
          </a:p>
        </p:txBody>
      </p:sp>
      <p:sp>
        <p:nvSpPr>
          <p:cNvPr id="9" name="Text 6"/>
          <p:cNvSpPr/>
          <p:nvPr/>
        </p:nvSpPr>
        <p:spPr>
          <a:xfrm>
            <a:off x="9449872" y="3702487"/>
            <a:ext cx="2777490" cy="347186"/>
          </a:xfrm>
          <a:prstGeom prst="rect">
            <a:avLst/>
          </a:prstGeom>
          <a:noFill/>
          <a:ln/>
        </p:spPr>
        <p:txBody>
          <a:bodyPr wrap="none" rtlCol="0" anchor="t"/>
          <a:lstStyle/>
          <a:p>
            <a:pPr marL="0" indent="0">
              <a:lnSpc>
                <a:spcPts val="2734"/>
              </a:lnSpc>
              <a:buNone/>
            </a:pPr>
            <a:r>
              <a:rPr lang="en-US" sz="2187" b="1">
                <a:solidFill>
                  <a:srgbClr val="403C4E"/>
                </a:solidFill>
                <a:latin typeface="Merriweather" pitchFamily="34" charset="0"/>
                <a:ea typeface="Merriweather" pitchFamily="34" charset="-122"/>
                <a:cs typeface="Merriweather" pitchFamily="34" charset="-120"/>
              </a:rPr>
              <a:t>Medical Imaging</a:t>
            </a:r>
            <a:endParaRPr lang="en-US" sz="2187"/>
          </a:p>
        </p:txBody>
      </p:sp>
      <p:sp>
        <p:nvSpPr>
          <p:cNvPr id="10" name="Text 7"/>
          <p:cNvSpPr/>
          <p:nvPr/>
        </p:nvSpPr>
        <p:spPr>
          <a:xfrm>
            <a:off x="9449872" y="4271843"/>
            <a:ext cx="3156347" cy="1999536"/>
          </a:xfrm>
          <a:prstGeom prst="rect">
            <a:avLst/>
          </a:prstGeom>
          <a:noFill/>
          <a:ln/>
        </p:spPr>
        <p:txBody>
          <a:bodyPr wrap="square" rtlCol="0" anchor="t"/>
          <a:lstStyle/>
          <a:p>
            <a:pPr marL="0" indent="0">
              <a:lnSpc>
                <a:spcPts val="2624"/>
              </a:lnSpc>
              <a:buNone/>
            </a:pPr>
            <a:r>
              <a:rPr lang="en-US" sz="1750">
                <a:solidFill>
                  <a:srgbClr val="403C4E"/>
                </a:solidFill>
                <a:latin typeface="Open Sans" pitchFamily="34" charset="0"/>
                <a:ea typeface="Open Sans" pitchFamily="34" charset="-122"/>
                <a:cs typeface="Open Sans" pitchFamily="34" charset="-120"/>
              </a:rPr>
              <a:t>Deep learning models have shown promise in assisting medical professionals with tasks like tumor detection and disease diagnosis from medical images.</a:t>
            </a:r>
            <a:endParaRPr lang="en-US" sz="175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pic>
        <p:nvPicPr>
          <p:cNvPr id="4" name="Image 1" descr="preencoded.png"/>
          <p:cNvPicPr>
            <a:picLocks noChangeAspect="1"/>
          </p:cNvPicPr>
          <p:nvPr/>
        </p:nvPicPr>
        <p:blipFill>
          <a:blip r:embed="rId4"/>
          <a:stretch>
            <a:fillRect/>
          </a:stretch>
        </p:blipFill>
        <p:spPr>
          <a:xfrm>
            <a:off x="0" y="0"/>
            <a:ext cx="14630400" cy="8229600"/>
          </a:xfrm>
          <a:prstGeom prst="rect">
            <a:avLst/>
          </a:prstGeom>
        </p:spPr>
      </p:pic>
      <p:sp>
        <p:nvSpPr>
          <p:cNvPr id="5" name="Shape 1"/>
          <p:cNvSpPr/>
          <p:nvPr/>
        </p:nvSpPr>
        <p:spPr>
          <a:xfrm>
            <a:off x="0" y="0"/>
            <a:ext cx="14630400" cy="8229600"/>
          </a:xfrm>
          <a:prstGeom prst="rect">
            <a:avLst/>
          </a:prstGeom>
          <a:solidFill>
            <a:srgbClr val="FFFFFF">
              <a:alpha val="85000"/>
            </a:srgbClr>
          </a:solidFill>
          <a:ln/>
        </p:spPr>
      </p:sp>
      <p:sp>
        <p:nvSpPr>
          <p:cNvPr id="6" name="Text 2"/>
          <p:cNvSpPr/>
          <p:nvPr/>
        </p:nvSpPr>
        <p:spPr>
          <a:xfrm>
            <a:off x="2081570" y="804148"/>
            <a:ext cx="10467142" cy="330517"/>
          </a:xfrm>
          <a:prstGeom prst="rect">
            <a:avLst/>
          </a:prstGeom>
          <a:noFill/>
          <a:ln/>
        </p:spPr>
        <p:txBody>
          <a:bodyPr wrap="none" rtlCol="0" anchor="t"/>
          <a:lstStyle/>
          <a:p>
            <a:pPr marL="0" indent="0">
              <a:lnSpc>
                <a:spcPts val="2603"/>
              </a:lnSpc>
              <a:buNone/>
            </a:pPr>
            <a:endParaRPr lang="en-US" sz="1735"/>
          </a:p>
        </p:txBody>
      </p:sp>
      <p:sp>
        <p:nvSpPr>
          <p:cNvPr id="7" name="Text 3"/>
          <p:cNvSpPr/>
          <p:nvPr/>
        </p:nvSpPr>
        <p:spPr>
          <a:xfrm>
            <a:off x="2081570" y="1354931"/>
            <a:ext cx="6167199" cy="688538"/>
          </a:xfrm>
          <a:prstGeom prst="rect">
            <a:avLst/>
          </a:prstGeom>
          <a:noFill/>
          <a:ln/>
        </p:spPr>
        <p:txBody>
          <a:bodyPr wrap="none" rtlCol="0" anchor="t"/>
          <a:lstStyle/>
          <a:p>
            <a:pPr marL="0" indent="0">
              <a:lnSpc>
                <a:spcPts val="5422"/>
              </a:lnSpc>
              <a:buNone/>
            </a:pPr>
            <a:r>
              <a:rPr lang="en-US" sz="4338" b="1">
                <a:solidFill>
                  <a:srgbClr val="403C4E"/>
                </a:solidFill>
                <a:latin typeface="Merriweather" pitchFamily="34" charset="0"/>
                <a:ea typeface="Merriweather" pitchFamily="34" charset="-122"/>
                <a:cs typeface="Merriweather" pitchFamily="34" charset="-120"/>
              </a:rPr>
              <a:t>Future Considerations</a:t>
            </a:r>
            <a:endParaRPr lang="en-US" sz="4338"/>
          </a:p>
        </p:txBody>
      </p:sp>
      <p:sp>
        <p:nvSpPr>
          <p:cNvPr id="8" name="Shape 4"/>
          <p:cNvSpPr/>
          <p:nvPr/>
        </p:nvSpPr>
        <p:spPr>
          <a:xfrm>
            <a:off x="2081570" y="5164098"/>
            <a:ext cx="10467142" cy="44053"/>
          </a:xfrm>
          <a:prstGeom prst="roundRect">
            <a:avLst>
              <a:gd name="adj" fmla="val 225099"/>
            </a:avLst>
          </a:prstGeom>
          <a:solidFill>
            <a:srgbClr val="E5BEB2"/>
          </a:solidFill>
          <a:ln/>
        </p:spPr>
      </p:sp>
      <p:sp>
        <p:nvSpPr>
          <p:cNvPr id="9" name="Shape 5"/>
          <p:cNvSpPr/>
          <p:nvPr/>
        </p:nvSpPr>
        <p:spPr>
          <a:xfrm>
            <a:off x="4621173" y="4392930"/>
            <a:ext cx="44053" cy="771168"/>
          </a:xfrm>
          <a:prstGeom prst="roundRect">
            <a:avLst>
              <a:gd name="adj" fmla="val 225099"/>
            </a:avLst>
          </a:prstGeom>
          <a:solidFill>
            <a:srgbClr val="E5BEB2"/>
          </a:solidFill>
          <a:ln/>
        </p:spPr>
      </p:sp>
      <p:sp>
        <p:nvSpPr>
          <p:cNvPr id="10" name="Shape 6"/>
          <p:cNvSpPr/>
          <p:nvPr/>
        </p:nvSpPr>
        <p:spPr>
          <a:xfrm>
            <a:off x="4450437" y="4971336"/>
            <a:ext cx="385524" cy="385524"/>
          </a:xfrm>
          <a:prstGeom prst="roundRect">
            <a:avLst>
              <a:gd name="adj" fmla="val 25722"/>
            </a:avLst>
          </a:prstGeom>
          <a:solidFill>
            <a:srgbClr val="FFD8CC"/>
          </a:solidFill>
          <a:ln w="7620">
            <a:solidFill>
              <a:srgbClr val="E5BEB2"/>
            </a:solidFill>
            <a:prstDash val="solid"/>
          </a:ln>
        </p:spPr>
      </p:sp>
      <p:sp>
        <p:nvSpPr>
          <p:cNvPr id="11" name="Text 7"/>
          <p:cNvSpPr/>
          <p:nvPr/>
        </p:nvSpPr>
        <p:spPr>
          <a:xfrm>
            <a:off x="2518053" y="2704505"/>
            <a:ext cx="4250293" cy="344329"/>
          </a:xfrm>
          <a:prstGeom prst="rect">
            <a:avLst/>
          </a:prstGeom>
          <a:noFill/>
          <a:ln/>
        </p:spPr>
        <p:txBody>
          <a:bodyPr wrap="none" rtlCol="0" anchor="t"/>
          <a:lstStyle/>
          <a:p>
            <a:pPr marL="0" indent="0" algn="ctr">
              <a:lnSpc>
                <a:spcPts val="2711"/>
              </a:lnSpc>
              <a:buNone/>
            </a:pPr>
            <a:r>
              <a:rPr lang="en-US" sz="2169" b="1">
                <a:solidFill>
                  <a:srgbClr val="403C4E"/>
                </a:solidFill>
                <a:latin typeface="Merriweather" pitchFamily="34" charset="0"/>
                <a:ea typeface="Merriweather" pitchFamily="34" charset="-122"/>
                <a:cs typeface="Merriweather" pitchFamily="34" charset="-120"/>
              </a:rPr>
              <a:t>Text Based Sentiment Analysis</a:t>
            </a:r>
            <a:endParaRPr lang="en-US" sz="2169"/>
          </a:p>
        </p:txBody>
      </p:sp>
      <p:sp>
        <p:nvSpPr>
          <p:cNvPr id="12" name="Text 8"/>
          <p:cNvSpPr/>
          <p:nvPr/>
        </p:nvSpPr>
        <p:spPr>
          <a:xfrm>
            <a:off x="2301835" y="3180993"/>
            <a:ext cx="4682847" cy="991553"/>
          </a:xfrm>
          <a:prstGeom prst="rect">
            <a:avLst/>
          </a:prstGeom>
          <a:noFill/>
          <a:ln/>
        </p:spPr>
        <p:txBody>
          <a:bodyPr wrap="square" rtlCol="0" anchor="t"/>
          <a:lstStyle/>
          <a:p>
            <a:pPr marL="0" indent="0" algn="ctr">
              <a:lnSpc>
                <a:spcPts val="2603"/>
              </a:lnSpc>
              <a:buNone/>
            </a:pPr>
            <a:r>
              <a:rPr lang="en-US" sz="1735">
                <a:solidFill>
                  <a:srgbClr val="403C4E"/>
                </a:solidFill>
                <a:latin typeface="Open Sans" pitchFamily="34" charset="0"/>
                <a:ea typeface="Open Sans" pitchFamily="34" charset="-122"/>
                <a:cs typeface="Open Sans" pitchFamily="34" charset="-120"/>
              </a:rPr>
              <a:t>Analyzing emotions in written content using natural language processing to determine positive, negative, or neutral sentiment.</a:t>
            </a:r>
            <a:endParaRPr lang="en-US" sz="1735"/>
          </a:p>
        </p:txBody>
      </p:sp>
      <p:sp>
        <p:nvSpPr>
          <p:cNvPr id="13" name="Shape 9"/>
          <p:cNvSpPr/>
          <p:nvPr/>
        </p:nvSpPr>
        <p:spPr>
          <a:xfrm>
            <a:off x="7293054" y="5164098"/>
            <a:ext cx="44053" cy="771168"/>
          </a:xfrm>
          <a:prstGeom prst="roundRect">
            <a:avLst>
              <a:gd name="adj" fmla="val 225099"/>
            </a:avLst>
          </a:prstGeom>
          <a:solidFill>
            <a:srgbClr val="E5BEB2"/>
          </a:solidFill>
          <a:ln/>
        </p:spPr>
      </p:sp>
      <p:sp>
        <p:nvSpPr>
          <p:cNvPr id="14" name="Shape 10"/>
          <p:cNvSpPr/>
          <p:nvPr/>
        </p:nvSpPr>
        <p:spPr>
          <a:xfrm>
            <a:off x="7122319" y="4971336"/>
            <a:ext cx="385524" cy="385524"/>
          </a:xfrm>
          <a:prstGeom prst="roundRect">
            <a:avLst>
              <a:gd name="adj" fmla="val 25722"/>
            </a:avLst>
          </a:prstGeom>
          <a:solidFill>
            <a:srgbClr val="FFD8CC"/>
          </a:solidFill>
          <a:ln w="7620">
            <a:solidFill>
              <a:srgbClr val="E5BEB2"/>
            </a:solidFill>
            <a:prstDash val="solid"/>
          </a:ln>
        </p:spPr>
      </p:sp>
      <p:sp>
        <p:nvSpPr>
          <p:cNvPr id="15" name="Text 11"/>
          <p:cNvSpPr/>
          <p:nvPr/>
        </p:nvSpPr>
        <p:spPr>
          <a:xfrm>
            <a:off x="5079802" y="6155650"/>
            <a:ext cx="4470440" cy="344329"/>
          </a:xfrm>
          <a:prstGeom prst="rect">
            <a:avLst/>
          </a:prstGeom>
          <a:noFill/>
          <a:ln/>
        </p:spPr>
        <p:txBody>
          <a:bodyPr wrap="none" rtlCol="0" anchor="t"/>
          <a:lstStyle/>
          <a:p>
            <a:pPr marL="0" indent="0" algn="ctr">
              <a:lnSpc>
                <a:spcPts val="2711"/>
              </a:lnSpc>
              <a:buNone/>
            </a:pPr>
            <a:r>
              <a:rPr lang="en-US" sz="2169" b="1">
                <a:solidFill>
                  <a:srgbClr val="403C4E"/>
                </a:solidFill>
                <a:latin typeface="Merriweather" pitchFamily="34" charset="0"/>
                <a:ea typeface="Merriweather" pitchFamily="34" charset="-122"/>
                <a:cs typeface="Merriweather" pitchFamily="34" charset="-120"/>
              </a:rPr>
              <a:t>Image based Sentiment Analysis</a:t>
            </a:r>
            <a:endParaRPr lang="en-US" sz="2169"/>
          </a:p>
        </p:txBody>
      </p:sp>
      <p:sp>
        <p:nvSpPr>
          <p:cNvPr id="16" name="Text 12"/>
          <p:cNvSpPr/>
          <p:nvPr/>
        </p:nvSpPr>
        <p:spPr>
          <a:xfrm>
            <a:off x="4973598" y="6632138"/>
            <a:ext cx="4682966" cy="991553"/>
          </a:xfrm>
          <a:prstGeom prst="rect">
            <a:avLst/>
          </a:prstGeom>
          <a:noFill/>
          <a:ln/>
        </p:spPr>
        <p:txBody>
          <a:bodyPr wrap="square" rtlCol="0" anchor="t"/>
          <a:lstStyle/>
          <a:p>
            <a:pPr marL="0" indent="0" algn="ctr">
              <a:lnSpc>
                <a:spcPts val="2603"/>
              </a:lnSpc>
              <a:buNone/>
            </a:pPr>
            <a:r>
              <a:rPr lang="en-US" sz="1735">
                <a:solidFill>
                  <a:srgbClr val="403C4E"/>
                </a:solidFill>
                <a:latin typeface="Open Sans" pitchFamily="34" charset="0"/>
                <a:ea typeface="Open Sans" pitchFamily="34" charset="-122"/>
                <a:cs typeface="Open Sans" pitchFamily="34" charset="-120"/>
              </a:rPr>
              <a:t>Interpreting emotions from visual content, such as facial expressions and scenes, using computer vision techniques.</a:t>
            </a:r>
            <a:endParaRPr lang="en-US" sz="1735"/>
          </a:p>
        </p:txBody>
      </p:sp>
      <p:sp>
        <p:nvSpPr>
          <p:cNvPr id="17" name="Shape 13"/>
          <p:cNvSpPr/>
          <p:nvPr/>
        </p:nvSpPr>
        <p:spPr>
          <a:xfrm>
            <a:off x="9964936" y="4392930"/>
            <a:ext cx="44053" cy="771168"/>
          </a:xfrm>
          <a:prstGeom prst="roundRect">
            <a:avLst>
              <a:gd name="adj" fmla="val 225099"/>
            </a:avLst>
          </a:prstGeom>
          <a:solidFill>
            <a:srgbClr val="E5BEB2"/>
          </a:solidFill>
          <a:ln/>
        </p:spPr>
      </p:sp>
      <p:sp>
        <p:nvSpPr>
          <p:cNvPr id="18" name="Shape 14"/>
          <p:cNvSpPr/>
          <p:nvPr/>
        </p:nvSpPr>
        <p:spPr>
          <a:xfrm>
            <a:off x="9794200" y="4971336"/>
            <a:ext cx="385524" cy="385524"/>
          </a:xfrm>
          <a:prstGeom prst="roundRect">
            <a:avLst>
              <a:gd name="adj" fmla="val 25722"/>
            </a:avLst>
          </a:prstGeom>
          <a:solidFill>
            <a:srgbClr val="FFD8CC"/>
          </a:solidFill>
          <a:ln w="7620">
            <a:solidFill>
              <a:srgbClr val="E5BEB2"/>
            </a:solidFill>
            <a:prstDash val="solid"/>
          </a:ln>
        </p:spPr>
      </p:sp>
      <p:sp>
        <p:nvSpPr>
          <p:cNvPr id="19" name="Text 15"/>
          <p:cNvSpPr/>
          <p:nvPr/>
        </p:nvSpPr>
        <p:spPr>
          <a:xfrm>
            <a:off x="7800261" y="2373987"/>
            <a:ext cx="4373285" cy="344329"/>
          </a:xfrm>
          <a:prstGeom prst="rect">
            <a:avLst/>
          </a:prstGeom>
          <a:noFill/>
          <a:ln/>
        </p:spPr>
        <p:txBody>
          <a:bodyPr wrap="none" rtlCol="0" anchor="t"/>
          <a:lstStyle/>
          <a:p>
            <a:pPr marL="0" indent="0" algn="ctr">
              <a:lnSpc>
                <a:spcPts val="2711"/>
              </a:lnSpc>
              <a:buNone/>
            </a:pPr>
            <a:r>
              <a:rPr lang="en-US" sz="2169" b="1">
                <a:solidFill>
                  <a:srgbClr val="403C4E"/>
                </a:solidFill>
                <a:latin typeface="Merriweather" pitchFamily="34" charset="0"/>
                <a:ea typeface="Merriweather" pitchFamily="34" charset="-122"/>
                <a:cs typeface="Merriweather" pitchFamily="34" charset="-120"/>
              </a:rPr>
              <a:t>Multimodal Sentiment Analysis</a:t>
            </a:r>
            <a:endParaRPr lang="en-US" sz="2169"/>
          </a:p>
        </p:txBody>
      </p:sp>
      <p:sp>
        <p:nvSpPr>
          <p:cNvPr id="20" name="Text 16"/>
          <p:cNvSpPr/>
          <p:nvPr/>
        </p:nvSpPr>
        <p:spPr>
          <a:xfrm>
            <a:off x="7645479" y="2850475"/>
            <a:ext cx="4682966" cy="1322070"/>
          </a:xfrm>
          <a:prstGeom prst="rect">
            <a:avLst/>
          </a:prstGeom>
          <a:noFill/>
          <a:ln/>
        </p:spPr>
        <p:txBody>
          <a:bodyPr wrap="square" rtlCol="0" anchor="t"/>
          <a:lstStyle/>
          <a:p>
            <a:pPr marL="0" indent="0" algn="ctr">
              <a:lnSpc>
                <a:spcPts val="2603"/>
              </a:lnSpc>
              <a:buNone/>
            </a:pPr>
            <a:r>
              <a:rPr lang="en-US" sz="1735">
                <a:solidFill>
                  <a:srgbClr val="403C4E"/>
                </a:solidFill>
                <a:latin typeface="Open Sans" pitchFamily="34" charset="0"/>
                <a:ea typeface="Open Sans" pitchFamily="34" charset="-122"/>
                <a:cs typeface="Open Sans" pitchFamily="34" charset="-120"/>
              </a:rPr>
              <a:t>Combining text and image data to analyze emotions, providing a more comprehensive understanding of sentiment from multiple sources.</a:t>
            </a:r>
            <a:endParaRPr lang="en-US" sz="1735"/>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
        <p:nvSpPr>
          <p:cNvPr id="4" name="Text 1"/>
          <p:cNvSpPr/>
          <p:nvPr/>
        </p:nvSpPr>
        <p:spPr>
          <a:xfrm>
            <a:off x="2037993" y="814149"/>
            <a:ext cx="10554414" cy="1388745"/>
          </a:xfrm>
          <a:prstGeom prst="rect">
            <a:avLst/>
          </a:prstGeom>
          <a:noFill/>
          <a:ln/>
        </p:spPr>
        <p:txBody>
          <a:bodyPr wrap="square" rtlCol="0" anchor="t"/>
          <a:lstStyle/>
          <a:p>
            <a:pPr marL="0" indent="0">
              <a:lnSpc>
                <a:spcPts val="5468"/>
              </a:lnSpc>
              <a:buNone/>
            </a:pPr>
            <a:r>
              <a:rPr lang="en-US" sz="4374" b="1">
                <a:solidFill>
                  <a:srgbClr val="403C4E"/>
                </a:solidFill>
                <a:latin typeface="Merriweather" pitchFamily="34" charset="0"/>
                <a:ea typeface="Merriweather" pitchFamily="34" charset="-122"/>
                <a:cs typeface="Merriweather" pitchFamily="34" charset="-120"/>
              </a:rPr>
              <a:t>Advantages and Disadvantages of Sentiment Analysis</a:t>
            </a:r>
            <a:endParaRPr lang="en-US" sz="4374"/>
          </a:p>
        </p:txBody>
      </p:sp>
      <p:sp>
        <p:nvSpPr>
          <p:cNvPr id="5" name="Shape 2"/>
          <p:cNvSpPr/>
          <p:nvPr/>
        </p:nvSpPr>
        <p:spPr>
          <a:xfrm>
            <a:off x="2037993" y="2647236"/>
            <a:ext cx="5166122" cy="2273022"/>
          </a:xfrm>
          <a:prstGeom prst="roundRect">
            <a:avLst>
              <a:gd name="adj" fmla="val 4399"/>
            </a:avLst>
          </a:prstGeom>
          <a:solidFill>
            <a:srgbClr val="FFD8CC"/>
          </a:solidFill>
          <a:ln w="7620">
            <a:solidFill>
              <a:srgbClr val="E5BEB2"/>
            </a:solidFill>
            <a:prstDash val="solid"/>
          </a:ln>
        </p:spPr>
      </p:sp>
      <p:sp>
        <p:nvSpPr>
          <p:cNvPr id="6" name="Text 3"/>
          <p:cNvSpPr/>
          <p:nvPr/>
        </p:nvSpPr>
        <p:spPr>
          <a:xfrm>
            <a:off x="2267783" y="2877026"/>
            <a:ext cx="2777490" cy="347186"/>
          </a:xfrm>
          <a:prstGeom prst="rect">
            <a:avLst/>
          </a:prstGeom>
          <a:noFill/>
          <a:ln/>
        </p:spPr>
        <p:txBody>
          <a:bodyPr wrap="none" rtlCol="0" anchor="t"/>
          <a:lstStyle/>
          <a:p>
            <a:pPr marL="0" indent="0">
              <a:lnSpc>
                <a:spcPts val="2734"/>
              </a:lnSpc>
              <a:buNone/>
            </a:pPr>
            <a:r>
              <a:rPr lang="en-US" sz="2187" b="1">
                <a:solidFill>
                  <a:srgbClr val="403C4E"/>
                </a:solidFill>
                <a:latin typeface="Merriweather" pitchFamily="34" charset="0"/>
                <a:ea typeface="Merriweather" pitchFamily="34" charset="-122"/>
                <a:cs typeface="Merriweather" pitchFamily="34" charset="-120"/>
              </a:rPr>
              <a:t>Advantages</a:t>
            </a:r>
            <a:endParaRPr lang="en-US" sz="2187"/>
          </a:p>
        </p:txBody>
      </p:sp>
      <p:sp>
        <p:nvSpPr>
          <p:cNvPr id="7" name="Text 4"/>
          <p:cNvSpPr/>
          <p:nvPr/>
        </p:nvSpPr>
        <p:spPr>
          <a:xfrm>
            <a:off x="2267783" y="3357443"/>
            <a:ext cx="4706541" cy="999768"/>
          </a:xfrm>
          <a:prstGeom prst="rect">
            <a:avLst/>
          </a:prstGeom>
          <a:noFill/>
          <a:ln/>
        </p:spPr>
        <p:txBody>
          <a:bodyPr wrap="square" rtlCol="0" anchor="t"/>
          <a:lstStyle/>
          <a:p>
            <a:pPr marL="0" indent="0">
              <a:lnSpc>
                <a:spcPts val="2624"/>
              </a:lnSpc>
              <a:buNone/>
            </a:pPr>
            <a:r>
              <a:rPr lang="en-US" sz="1750">
                <a:solidFill>
                  <a:srgbClr val="403C4E"/>
                </a:solidFill>
                <a:latin typeface="Open Sans" pitchFamily="34" charset="0"/>
                <a:ea typeface="Open Sans" pitchFamily="34" charset="-122"/>
                <a:cs typeface="Open Sans" pitchFamily="34" charset="-120"/>
              </a:rPr>
              <a:t>Sentiment analysis can provide valuable insights, automate customer service, and help businesses make data-driven decisions.</a:t>
            </a:r>
            <a:endParaRPr lang="en-US" sz="1750"/>
          </a:p>
        </p:txBody>
      </p:sp>
      <p:sp>
        <p:nvSpPr>
          <p:cNvPr id="8" name="Shape 5"/>
          <p:cNvSpPr/>
          <p:nvPr/>
        </p:nvSpPr>
        <p:spPr>
          <a:xfrm>
            <a:off x="7426285" y="2647236"/>
            <a:ext cx="5166122" cy="2273022"/>
          </a:xfrm>
          <a:prstGeom prst="roundRect">
            <a:avLst>
              <a:gd name="adj" fmla="val 4399"/>
            </a:avLst>
          </a:prstGeom>
          <a:solidFill>
            <a:srgbClr val="FFD8CC"/>
          </a:solidFill>
          <a:ln w="7620">
            <a:solidFill>
              <a:srgbClr val="E5BEB2"/>
            </a:solidFill>
            <a:prstDash val="solid"/>
          </a:ln>
        </p:spPr>
      </p:sp>
      <p:sp>
        <p:nvSpPr>
          <p:cNvPr id="9" name="Text 6"/>
          <p:cNvSpPr/>
          <p:nvPr/>
        </p:nvSpPr>
        <p:spPr>
          <a:xfrm>
            <a:off x="7656076" y="2877026"/>
            <a:ext cx="2777490" cy="347186"/>
          </a:xfrm>
          <a:prstGeom prst="rect">
            <a:avLst/>
          </a:prstGeom>
          <a:noFill/>
          <a:ln/>
        </p:spPr>
        <p:txBody>
          <a:bodyPr wrap="none" rtlCol="0" anchor="t"/>
          <a:lstStyle/>
          <a:p>
            <a:pPr marL="0" indent="0">
              <a:lnSpc>
                <a:spcPts val="2734"/>
              </a:lnSpc>
              <a:buNone/>
            </a:pPr>
            <a:r>
              <a:rPr lang="en-US" sz="2187" b="1">
                <a:solidFill>
                  <a:srgbClr val="403C4E"/>
                </a:solidFill>
                <a:latin typeface="Merriweather" pitchFamily="34" charset="0"/>
                <a:ea typeface="Merriweather" pitchFamily="34" charset="-122"/>
                <a:cs typeface="Merriweather" pitchFamily="34" charset="-120"/>
              </a:rPr>
              <a:t>Limitations</a:t>
            </a:r>
            <a:endParaRPr lang="en-US" sz="2187"/>
          </a:p>
        </p:txBody>
      </p:sp>
      <p:sp>
        <p:nvSpPr>
          <p:cNvPr id="10" name="Text 7"/>
          <p:cNvSpPr/>
          <p:nvPr/>
        </p:nvSpPr>
        <p:spPr>
          <a:xfrm>
            <a:off x="7656076" y="3357443"/>
            <a:ext cx="4706541" cy="1333024"/>
          </a:xfrm>
          <a:prstGeom prst="rect">
            <a:avLst/>
          </a:prstGeom>
          <a:noFill/>
          <a:ln/>
        </p:spPr>
        <p:txBody>
          <a:bodyPr wrap="square" rtlCol="0" anchor="t"/>
          <a:lstStyle/>
          <a:p>
            <a:pPr marL="0" indent="0">
              <a:lnSpc>
                <a:spcPts val="2624"/>
              </a:lnSpc>
              <a:buNone/>
            </a:pPr>
            <a:r>
              <a:rPr lang="en-US" sz="1750">
                <a:solidFill>
                  <a:srgbClr val="403C4E"/>
                </a:solidFill>
                <a:latin typeface="Open Sans" pitchFamily="34" charset="0"/>
                <a:ea typeface="Open Sans" pitchFamily="34" charset="-122"/>
                <a:cs typeface="Open Sans" pitchFamily="34" charset="-120"/>
              </a:rPr>
              <a:t>Sentiment analysis can be challenging due to ambiguity, sarcasm, and the complexity of human language. Biases in training data can also affect accuracy.</a:t>
            </a:r>
            <a:endParaRPr lang="en-US" sz="1750"/>
          </a:p>
        </p:txBody>
      </p:sp>
      <p:sp>
        <p:nvSpPr>
          <p:cNvPr id="11" name="Shape 8"/>
          <p:cNvSpPr/>
          <p:nvPr/>
        </p:nvSpPr>
        <p:spPr>
          <a:xfrm>
            <a:off x="2037993" y="5142428"/>
            <a:ext cx="5166122" cy="2273022"/>
          </a:xfrm>
          <a:prstGeom prst="roundRect">
            <a:avLst>
              <a:gd name="adj" fmla="val 4399"/>
            </a:avLst>
          </a:prstGeom>
          <a:solidFill>
            <a:srgbClr val="FFD8CC"/>
          </a:solidFill>
          <a:ln w="7620">
            <a:solidFill>
              <a:srgbClr val="E5BEB2"/>
            </a:solidFill>
            <a:prstDash val="solid"/>
          </a:ln>
        </p:spPr>
      </p:sp>
      <p:sp>
        <p:nvSpPr>
          <p:cNvPr id="12" name="Text 9"/>
          <p:cNvSpPr/>
          <p:nvPr/>
        </p:nvSpPr>
        <p:spPr>
          <a:xfrm>
            <a:off x="2267783" y="5372219"/>
            <a:ext cx="3157776" cy="347186"/>
          </a:xfrm>
          <a:prstGeom prst="rect">
            <a:avLst/>
          </a:prstGeom>
          <a:noFill/>
          <a:ln/>
        </p:spPr>
        <p:txBody>
          <a:bodyPr wrap="none" rtlCol="0" anchor="t"/>
          <a:lstStyle/>
          <a:p>
            <a:pPr marL="0" indent="0">
              <a:lnSpc>
                <a:spcPts val="2734"/>
              </a:lnSpc>
              <a:buNone/>
            </a:pPr>
            <a:r>
              <a:rPr lang="en-US" sz="2187" b="1">
                <a:solidFill>
                  <a:srgbClr val="403C4E"/>
                </a:solidFill>
                <a:latin typeface="Merriweather" pitchFamily="34" charset="0"/>
                <a:ea typeface="Merriweather" pitchFamily="34" charset="-122"/>
                <a:cs typeface="Merriweather" pitchFamily="34" charset="-120"/>
              </a:rPr>
              <a:t>Ethical Considerations</a:t>
            </a:r>
            <a:endParaRPr lang="en-US" sz="2187"/>
          </a:p>
        </p:txBody>
      </p:sp>
      <p:sp>
        <p:nvSpPr>
          <p:cNvPr id="13" name="Text 10"/>
          <p:cNvSpPr/>
          <p:nvPr/>
        </p:nvSpPr>
        <p:spPr>
          <a:xfrm>
            <a:off x="2267783" y="5852636"/>
            <a:ext cx="4706541" cy="1333024"/>
          </a:xfrm>
          <a:prstGeom prst="rect">
            <a:avLst/>
          </a:prstGeom>
          <a:noFill/>
          <a:ln/>
        </p:spPr>
        <p:txBody>
          <a:bodyPr wrap="square" rtlCol="0" anchor="t"/>
          <a:lstStyle/>
          <a:p>
            <a:pPr marL="0" indent="0">
              <a:lnSpc>
                <a:spcPts val="2624"/>
              </a:lnSpc>
              <a:buNone/>
            </a:pPr>
            <a:r>
              <a:rPr lang="en-US" sz="1750">
                <a:solidFill>
                  <a:srgbClr val="403C4E"/>
                </a:solidFill>
                <a:latin typeface="Open Sans" pitchFamily="34" charset="0"/>
                <a:ea typeface="Open Sans" pitchFamily="34" charset="-122"/>
                <a:cs typeface="Open Sans" pitchFamily="34" charset="-120"/>
              </a:rPr>
              <a:t>Sentiment analysis raises concerns around privacy, data ethics, and the potential for misuse. Responsible development and deployment is crucial.</a:t>
            </a:r>
            <a:endParaRPr lang="en-US" sz="1750"/>
          </a:p>
        </p:txBody>
      </p:sp>
      <p:sp>
        <p:nvSpPr>
          <p:cNvPr id="14" name="Shape 11"/>
          <p:cNvSpPr/>
          <p:nvPr/>
        </p:nvSpPr>
        <p:spPr>
          <a:xfrm>
            <a:off x="7426285" y="5142428"/>
            <a:ext cx="5166122" cy="2273022"/>
          </a:xfrm>
          <a:prstGeom prst="roundRect">
            <a:avLst>
              <a:gd name="adj" fmla="val 4399"/>
            </a:avLst>
          </a:prstGeom>
          <a:solidFill>
            <a:srgbClr val="FFD8CC"/>
          </a:solidFill>
          <a:ln w="7620">
            <a:solidFill>
              <a:srgbClr val="E5BEB2"/>
            </a:solidFill>
            <a:prstDash val="solid"/>
          </a:ln>
        </p:spPr>
      </p:sp>
      <p:sp>
        <p:nvSpPr>
          <p:cNvPr id="15" name="Text 12"/>
          <p:cNvSpPr/>
          <p:nvPr/>
        </p:nvSpPr>
        <p:spPr>
          <a:xfrm>
            <a:off x="7656076" y="5372219"/>
            <a:ext cx="3058954" cy="347186"/>
          </a:xfrm>
          <a:prstGeom prst="rect">
            <a:avLst/>
          </a:prstGeom>
          <a:noFill/>
          <a:ln/>
        </p:spPr>
        <p:txBody>
          <a:bodyPr wrap="none" rtlCol="0" anchor="t"/>
          <a:lstStyle/>
          <a:p>
            <a:pPr marL="0" indent="0">
              <a:lnSpc>
                <a:spcPts val="2734"/>
              </a:lnSpc>
              <a:buNone/>
            </a:pPr>
            <a:r>
              <a:rPr lang="en-US" sz="2187" b="1">
                <a:solidFill>
                  <a:srgbClr val="403C4E"/>
                </a:solidFill>
                <a:latin typeface="Merriweather" pitchFamily="34" charset="0"/>
                <a:ea typeface="Merriweather" pitchFamily="34" charset="-122"/>
                <a:cs typeface="Merriweather" pitchFamily="34" charset="-120"/>
              </a:rPr>
              <a:t>Future Improvements</a:t>
            </a:r>
            <a:endParaRPr lang="en-US" sz="2187"/>
          </a:p>
        </p:txBody>
      </p:sp>
      <p:sp>
        <p:nvSpPr>
          <p:cNvPr id="16" name="Text 13"/>
          <p:cNvSpPr/>
          <p:nvPr/>
        </p:nvSpPr>
        <p:spPr>
          <a:xfrm>
            <a:off x="7656076" y="5852636"/>
            <a:ext cx="4706541" cy="1333024"/>
          </a:xfrm>
          <a:prstGeom prst="rect">
            <a:avLst/>
          </a:prstGeom>
          <a:noFill/>
          <a:ln/>
        </p:spPr>
        <p:txBody>
          <a:bodyPr wrap="square" rtlCol="0" anchor="t"/>
          <a:lstStyle/>
          <a:p>
            <a:pPr marL="0" indent="0">
              <a:lnSpc>
                <a:spcPts val="2624"/>
              </a:lnSpc>
              <a:buNone/>
            </a:pPr>
            <a:r>
              <a:rPr lang="en-US" sz="1750">
                <a:solidFill>
                  <a:srgbClr val="403C4E"/>
                </a:solidFill>
                <a:latin typeface="Open Sans" pitchFamily="34" charset="0"/>
                <a:ea typeface="Open Sans" pitchFamily="34" charset="-122"/>
                <a:cs typeface="Open Sans" pitchFamily="34" charset="-120"/>
              </a:rPr>
              <a:t>Continued research and advancements in natural language understanding and contextual analysis can help address the limitations of sentiment analysis.</a:t>
            </a:r>
            <a:endParaRPr lang="en-US" sz="175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
        <p:nvSpPr>
          <p:cNvPr id="4" name="Text 1"/>
          <p:cNvSpPr/>
          <p:nvPr/>
        </p:nvSpPr>
        <p:spPr>
          <a:xfrm>
            <a:off x="2037993" y="1743075"/>
            <a:ext cx="9846112" cy="694373"/>
          </a:xfrm>
          <a:prstGeom prst="rect">
            <a:avLst/>
          </a:prstGeom>
          <a:noFill/>
          <a:ln/>
        </p:spPr>
        <p:txBody>
          <a:bodyPr wrap="none" rtlCol="0" anchor="t"/>
          <a:lstStyle/>
          <a:p>
            <a:pPr marL="0" indent="0">
              <a:lnSpc>
                <a:spcPts val="5468"/>
              </a:lnSpc>
              <a:buNone/>
            </a:pPr>
            <a:r>
              <a:rPr lang="en-US" sz="4374" b="1">
                <a:solidFill>
                  <a:srgbClr val="403C4E"/>
                </a:solidFill>
                <a:latin typeface="Merriweather" pitchFamily="34" charset="0"/>
                <a:ea typeface="Merriweather" pitchFamily="34" charset="-122"/>
                <a:cs typeface="Merriweather" pitchFamily="34" charset="-120"/>
              </a:rPr>
              <a:t>Impact on Society and Implications</a:t>
            </a:r>
            <a:endParaRPr lang="en-US" sz="4374"/>
          </a:p>
        </p:txBody>
      </p:sp>
      <p:pic>
        <p:nvPicPr>
          <p:cNvPr id="5" name="Image 1" descr="preencoded.png"/>
          <p:cNvPicPr>
            <a:picLocks noChangeAspect="1"/>
          </p:cNvPicPr>
          <p:nvPr/>
        </p:nvPicPr>
        <p:blipFill>
          <a:blip r:embed="rId4"/>
          <a:stretch>
            <a:fillRect/>
          </a:stretch>
        </p:blipFill>
        <p:spPr>
          <a:xfrm>
            <a:off x="2037993" y="2881789"/>
            <a:ext cx="555427" cy="555427"/>
          </a:xfrm>
          <a:prstGeom prst="rect">
            <a:avLst/>
          </a:prstGeom>
        </p:spPr>
      </p:pic>
      <p:sp>
        <p:nvSpPr>
          <p:cNvPr id="6" name="Text 2"/>
          <p:cNvSpPr/>
          <p:nvPr/>
        </p:nvSpPr>
        <p:spPr>
          <a:xfrm>
            <a:off x="2037993" y="3659386"/>
            <a:ext cx="2388632" cy="694373"/>
          </a:xfrm>
          <a:prstGeom prst="rect">
            <a:avLst/>
          </a:prstGeom>
          <a:noFill/>
          <a:ln/>
        </p:spPr>
        <p:txBody>
          <a:bodyPr wrap="square" rtlCol="0" anchor="t"/>
          <a:lstStyle/>
          <a:p>
            <a:pPr marL="0" indent="0" algn="l">
              <a:lnSpc>
                <a:spcPts val="2734"/>
              </a:lnSpc>
              <a:buNone/>
            </a:pPr>
            <a:r>
              <a:rPr lang="en-US" sz="2187" b="1">
                <a:solidFill>
                  <a:srgbClr val="403C4E"/>
                </a:solidFill>
                <a:latin typeface="Merriweather" pitchFamily="34" charset="0"/>
                <a:ea typeface="Merriweather" pitchFamily="34" charset="-122"/>
                <a:cs typeface="Merriweather" pitchFamily="34" charset="-120"/>
              </a:rPr>
              <a:t>Customer Experience</a:t>
            </a:r>
            <a:endParaRPr lang="en-US" sz="2187"/>
          </a:p>
        </p:txBody>
      </p:sp>
      <p:sp>
        <p:nvSpPr>
          <p:cNvPr id="7" name="Text 3"/>
          <p:cNvSpPr/>
          <p:nvPr/>
        </p:nvSpPr>
        <p:spPr>
          <a:xfrm>
            <a:off x="2037993" y="4486989"/>
            <a:ext cx="2388632" cy="1666280"/>
          </a:xfrm>
          <a:prstGeom prst="rect">
            <a:avLst/>
          </a:prstGeom>
          <a:noFill/>
          <a:ln/>
        </p:spPr>
        <p:txBody>
          <a:bodyPr wrap="square" rtlCol="0" anchor="t"/>
          <a:lstStyle/>
          <a:p>
            <a:pPr marL="0" indent="0" algn="l">
              <a:lnSpc>
                <a:spcPts val="2624"/>
              </a:lnSpc>
              <a:buNone/>
            </a:pPr>
            <a:r>
              <a:rPr lang="en-US" sz="1750">
                <a:solidFill>
                  <a:srgbClr val="403C4E"/>
                </a:solidFill>
                <a:latin typeface="Open Sans" pitchFamily="34" charset="0"/>
                <a:ea typeface="Open Sans" pitchFamily="34" charset="-122"/>
                <a:cs typeface="Open Sans" pitchFamily="34" charset="-120"/>
              </a:rPr>
              <a:t>Sentiment analysis can help businesses better understand and address customer needs and concerns.</a:t>
            </a:r>
            <a:endParaRPr lang="en-US" sz="1750"/>
          </a:p>
        </p:txBody>
      </p:sp>
      <p:pic>
        <p:nvPicPr>
          <p:cNvPr id="8" name="Image 2" descr="preencoded.png"/>
          <p:cNvPicPr>
            <a:picLocks noChangeAspect="1"/>
          </p:cNvPicPr>
          <p:nvPr/>
        </p:nvPicPr>
        <p:blipFill>
          <a:blip r:embed="rId5"/>
          <a:stretch>
            <a:fillRect/>
          </a:stretch>
        </p:blipFill>
        <p:spPr>
          <a:xfrm>
            <a:off x="4759881" y="2881789"/>
            <a:ext cx="555427" cy="555427"/>
          </a:xfrm>
          <a:prstGeom prst="rect">
            <a:avLst/>
          </a:prstGeom>
        </p:spPr>
      </p:pic>
      <p:sp>
        <p:nvSpPr>
          <p:cNvPr id="9" name="Text 4"/>
          <p:cNvSpPr/>
          <p:nvPr/>
        </p:nvSpPr>
        <p:spPr>
          <a:xfrm>
            <a:off x="4759881" y="3659386"/>
            <a:ext cx="2388632" cy="347186"/>
          </a:xfrm>
          <a:prstGeom prst="rect">
            <a:avLst/>
          </a:prstGeom>
          <a:noFill/>
          <a:ln/>
        </p:spPr>
        <p:txBody>
          <a:bodyPr wrap="none" rtlCol="0" anchor="t"/>
          <a:lstStyle/>
          <a:p>
            <a:pPr marL="0" indent="0" algn="l">
              <a:lnSpc>
                <a:spcPts val="2734"/>
              </a:lnSpc>
              <a:buNone/>
            </a:pPr>
            <a:r>
              <a:rPr lang="en-US" sz="2187" b="1">
                <a:solidFill>
                  <a:srgbClr val="403C4E"/>
                </a:solidFill>
                <a:latin typeface="Merriweather" pitchFamily="34" charset="0"/>
                <a:ea typeface="Merriweather" pitchFamily="34" charset="-122"/>
                <a:cs typeface="Merriweather" pitchFamily="34" charset="-120"/>
              </a:rPr>
              <a:t>Data Ethics</a:t>
            </a:r>
            <a:endParaRPr lang="en-US" sz="2187"/>
          </a:p>
        </p:txBody>
      </p:sp>
      <p:sp>
        <p:nvSpPr>
          <p:cNvPr id="10" name="Text 5"/>
          <p:cNvSpPr/>
          <p:nvPr/>
        </p:nvSpPr>
        <p:spPr>
          <a:xfrm>
            <a:off x="4759881" y="4139803"/>
            <a:ext cx="2388632" cy="1999536"/>
          </a:xfrm>
          <a:prstGeom prst="rect">
            <a:avLst/>
          </a:prstGeom>
          <a:noFill/>
          <a:ln/>
        </p:spPr>
        <p:txBody>
          <a:bodyPr wrap="square" rtlCol="0" anchor="t"/>
          <a:lstStyle/>
          <a:p>
            <a:pPr marL="0" indent="0" algn="l">
              <a:lnSpc>
                <a:spcPts val="2624"/>
              </a:lnSpc>
              <a:buNone/>
            </a:pPr>
            <a:r>
              <a:rPr lang="en-US" sz="1750">
                <a:solidFill>
                  <a:srgbClr val="403C4E"/>
                </a:solidFill>
                <a:latin typeface="Open Sans" pitchFamily="34" charset="0"/>
                <a:ea typeface="Open Sans" pitchFamily="34" charset="-122"/>
                <a:cs typeface="Open Sans" pitchFamily="34" charset="-120"/>
              </a:rPr>
              <a:t>The responsible use of sentiment analysis data is crucial to protect individual privacy and prevent misuse.</a:t>
            </a:r>
            <a:endParaRPr lang="en-US" sz="1750"/>
          </a:p>
        </p:txBody>
      </p:sp>
      <p:pic>
        <p:nvPicPr>
          <p:cNvPr id="11" name="Image 3" descr="preencoded.png"/>
          <p:cNvPicPr>
            <a:picLocks noChangeAspect="1"/>
          </p:cNvPicPr>
          <p:nvPr/>
        </p:nvPicPr>
        <p:blipFill>
          <a:blip r:embed="rId6"/>
          <a:stretch>
            <a:fillRect/>
          </a:stretch>
        </p:blipFill>
        <p:spPr>
          <a:xfrm>
            <a:off x="7481768" y="2881789"/>
            <a:ext cx="555427" cy="555427"/>
          </a:xfrm>
          <a:prstGeom prst="rect">
            <a:avLst/>
          </a:prstGeom>
        </p:spPr>
      </p:pic>
      <p:sp>
        <p:nvSpPr>
          <p:cNvPr id="12" name="Text 6"/>
          <p:cNvSpPr/>
          <p:nvPr/>
        </p:nvSpPr>
        <p:spPr>
          <a:xfrm>
            <a:off x="7481768" y="3659386"/>
            <a:ext cx="2388632" cy="347186"/>
          </a:xfrm>
          <a:prstGeom prst="rect">
            <a:avLst/>
          </a:prstGeom>
          <a:noFill/>
          <a:ln/>
        </p:spPr>
        <p:txBody>
          <a:bodyPr wrap="none" rtlCol="0" anchor="t"/>
          <a:lstStyle/>
          <a:p>
            <a:pPr marL="0" indent="0" algn="l">
              <a:lnSpc>
                <a:spcPts val="2734"/>
              </a:lnSpc>
              <a:buNone/>
            </a:pPr>
            <a:r>
              <a:rPr lang="en-US" sz="2187" b="1">
                <a:solidFill>
                  <a:srgbClr val="403C4E"/>
                </a:solidFill>
                <a:latin typeface="Merriweather" pitchFamily="34" charset="0"/>
                <a:ea typeface="Merriweather" pitchFamily="34" charset="-122"/>
                <a:cs typeface="Merriweather" pitchFamily="34" charset="-120"/>
              </a:rPr>
              <a:t>Social Impact</a:t>
            </a:r>
            <a:endParaRPr lang="en-US" sz="2187"/>
          </a:p>
        </p:txBody>
      </p:sp>
      <p:sp>
        <p:nvSpPr>
          <p:cNvPr id="13" name="Text 7"/>
          <p:cNvSpPr/>
          <p:nvPr/>
        </p:nvSpPr>
        <p:spPr>
          <a:xfrm>
            <a:off x="7481768" y="4139803"/>
            <a:ext cx="2388632" cy="1666280"/>
          </a:xfrm>
          <a:prstGeom prst="rect">
            <a:avLst/>
          </a:prstGeom>
          <a:noFill/>
          <a:ln/>
        </p:spPr>
        <p:txBody>
          <a:bodyPr wrap="square" rtlCol="0" anchor="t"/>
          <a:lstStyle/>
          <a:p>
            <a:pPr marL="0" indent="0" algn="l">
              <a:lnSpc>
                <a:spcPts val="2624"/>
              </a:lnSpc>
              <a:buNone/>
            </a:pPr>
            <a:r>
              <a:rPr lang="en-US" sz="1750">
                <a:solidFill>
                  <a:srgbClr val="403C4E"/>
                </a:solidFill>
                <a:latin typeface="Open Sans" pitchFamily="34" charset="0"/>
                <a:ea typeface="Open Sans" pitchFamily="34" charset="-122"/>
                <a:cs typeface="Open Sans" pitchFamily="34" charset="-120"/>
              </a:rPr>
              <a:t>Sentiment analysis can provide insights into public opinion on important social and political issues.</a:t>
            </a:r>
            <a:endParaRPr lang="en-US" sz="1750"/>
          </a:p>
        </p:txBody>
      </p:sp>
      <p:pic>
        <p:nvPicPr>
          <p:cNvPr id="14" name="Image 4" descr="preencoded.png"/>
          <p:cNvPicPr>
            <a:picLocks noChangeAspect="1"/>
          </p:cNvPicPr>
          <p:nvPr/>
        </p:nvPicPr>
        <p:blipFill>
          <a:blip r:embed="rId7"/>
          <a:stretch>
            <a:fillRect/>
          </a:stretch>
        </p:blipFill>
        <p:spPr>
          <a:xfrm>
            <a:off x="10203656" y="2881789"/>
            <a:ext cx="555427" cy="555427"/>
          </a:xfrm>
          <a:prstGeom prst="rect">
            <a:avLst/>
          </a:prstGeom>
        </p:spPr>
      </p:pic>
      <p:sp>
        <p:nvSpPr>
          <p:cNvPr id="15" name="Text 8"/>
          <p:cNvSpPr/>
          <p:nvPr/>
        </p:nvSpPr>
        <p:spPr>
          <a:xfrm>
            <a:off x="10203656" y="3659386"/>
            <a:ext cx="2388751" cy="694373"/>
          </a:xfrm>
          <a:prstGeom prst="rect">
            <a:avLst/>
          </a:prstGeom>
          <a:noFill/>
          <a:ln/>
        </p:spPr>
        <p:txBody>
          <a:bodyPr wrap="square" rtlCol="0" anchor="t"/>
          <a:lstStyle/>
          <a:p>
            <a:pPr marL="0" indent="0" algn="l">
              <a:lnSpc>
                <a:spcPts val="2734"/>
              </a:lnSpc>
              <a:buNone/>
            </a:pPr>
            <a:r>
              <a:rPr lang="en-US" sz="2187" b="1">
                <a:solidFill>
                  <a:srgbClr val="403C4E"/>
                </a:solidFill>
                <a:latin typeface="Merriweather" pitchFamily="34" charset="0"/>
                <a:ea typeface="Merriweather" pitchFamily="34" charset="-122"/>
                <a:cs typeface="Merriweather" pitchFamily="34" charset="-120"/>
              </a:rPr>
              <a:t>Future Implications</a:t>
            </a:r>
            <a:endParaRPr lang="en-US" sz="2187"/>
          </a:p>
        </p:txBody>
      </p:sp>
      <p:sp>
        <p:nvSpPr>
          <p:cNvPr id="16" name="Text 9"/>
          <p:cNvSpPr/>
          <p:nvPr/>
        </p:nvSpPr>
        <p:spPr>
          <a:xfrm>
            <a:off x="10203656" y="4486989"/>
            <a:ext cx="2388751" cy="1999536"/>
          </a:xfrm>
          <a:prstGeom prst="rect">
            <a:avLst/>
          </a:prstGeom>
          <a:noFill/>
          <a:ln/>
        </p:spPr>
        <p:txBody>
          <a:bodyPr wrap="square" rtlCol="0" anchor="t"/>
          <a:lstStyle/>
          <a:p>
            <a:pPr marL="0" indent="0" algn="l">
              <a:lnSpc>
                <a:spcPts val="2624"/>
              </a:lnSpc>
              <a:buNone/>
            </a:pPr>
            <a:r>
              <a:rPr lang="en-US" sz="1750">
                <a:solidFill>
                  <a:srgbClr val="403C4E"/>
                </a:solidFill>
                <a:latin typeface="Open Sans" pitchFamily="34" charset="0"/>
                <a:ea typeface="Open Sans" pitchFamily="34" charset="-122"/>
                <a:cs typeface="Open Sans" pitchFamily="34" charset="-120"/>
              </a:rPr>
              <a:t>Advancements in sentiment analysis may lead to new applications and have far-reaching societal implications.</a:t>
            </a:r>
            <a:endParaRPr lang="en-US" sz="175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
        <p:nvSpPr>
          <p:cNvPr id="4" name="Text 1"/>
          <p:cNvSpPr/>
          <p:nvPr/>
        </p:nvSpPr>
        <p:spPr>
          <a:xfrm>
            <a:off x="2062282" y="609005"/>
            <a:ext cx="5529263" cy="691158"/>
          </a:xfrm>
          <a:prstGeom prst="rect">
            <a:avLst/>
          </a:prstGeom>
          <a:noFill/>
          <a:ln/>
        </p:spPr>
        <p:txBody>
          <a:bodyPr wrap="none" rtlCol="0" anchor="t"/>
          <a:lstStyle/>
          <a:p>
            <a:pPr marL="0" indent="0">
              <a:lnSpc>
                <a:spcPts val="5442"/>
              </a:lnSpc>
              <a:buNone/>
            </a:pPr>
            <a:r>
              <a:rPr lang="en-US" sz="4354" b="1">
                <a:solidFill>
                  <a:srgbClr val="403C4E"/>
                </a:solidFill>
                <a:latin typeface="Merriweather" pitchFamily="34" charset="0"/>
                <a:ea typeface="Merriweather" pitchFamily="34" charset="-122"/>
                <a:cs typeface="Merriweather" pitchFamily="34" charset="-120"/>
              </a:rPr>
              <a:t>Conclusion</a:t>
            </a:r>
            <a:endParaRPr lang="en-US" sz="4354"/>
          </a:p>
        </p:txBody>
      </p:sp>
      <p:sp>
        <p:nvSpPr>
          <p:cNvPr id="5" name="Shape 2"/>
          <p:cNvSpPr/>
          <p:nvPr/>
        </p:nvSpPr>
        <p:spPr>
          <a:xfrm>
            <a:off x="2062282" y="1880592"/>
            <a:ext cx="497562" cy="497562"/>
          </a:xfrm>
          <a:prstGeom prst="roundRect">
            <a:avLst>
              <a:gd name="adj" fmla="val 20003"/>
            </a:avLst>
          </a:prstGeom>
          <a:solidFill>
            <a:srgbClr val="FFD8CC"/>
          </a:solidFill>
          <a:ln w="7620">
            <a:solidFill>
              <a:srgbClr val="E5BEB2"/>
            </a:solidFill>
            <a:prstDash val="solid"/>
          </a:ln>
        </p:spPr>
      </p:sp>
      <p:sp>
        <p:nvSpPr>
          <p:cNvPr id="6" name="Text 3"/>
          <p:cNvSpPr/>
          <p:nvPr/>
        </p:nvSpPr>
        <p:spPr>
          <a:xfrm>
            <a:off x="2235041" y="1922026"/>
            <a:ext cx="151924" cy="414576"/>
          </a:xfrm>
          <a:prstGeom prst="rect">
            <a:avLst/>
          </a:prstGeom>
          <a:noFill/>
          <a:ln/>
        </p:spPr>
        <p:txBody>
          <a:bodyPr wrap="none" rtlCol="0" anchor="t"/>
          <a:lstStyle/>
          <a:p>
            <a:pPr marL="0" indent="0" algn="ctr">
              <a:lnSpc>
                <a:spcPts val="3265"/>
              </a:lnSpc>
              <a:buNone/>
            </a:pPr>
            <a:r>
              <a:rPr lang="en-US" sz="2612" b="1">
                <a:solidFill>
                  <a:srgbClr val="403C4E"/>
                </a:solidFill>
                <a:latin typeface="Merriweather" pitchFamily="34" charset="0"/>
                <a:ea typeface="Merriweather" pitchFamily="34" charset="-122"/>
                <a:cs typeface="Merriweather" pitchFamily="34" charset="-120"/>
              </a:rPr>
              <a:t>1</a:t>
            </a:r>
            <a:endParaRPr lang="en-US" sz="2612"/>
          </a:p>
        </p:txBody>
      </p:sp>
      <p:sp>
        <p:nvSpPr>
          <p:cNvPr id="7" name="Text 4"/>
          <p:cNvSpPr/>
          <p:nvPr/>
        </p:nvSpPr>
        <p:spPr>
          <a:xfrm>
            <a:off x="2780943" y="1880592"/>
            <a:ext cx="2764631" cy="345519"/>
          </a:xfrm>
          <a:prstGeom prst="rect">
            <a:avLst/>
          </a:prstGeom>
          <a:noFill/>
          <a:ln/>
        </p:spPr>
        <p:txBody>
          <a:bodyPr wrap="none" rtlCol="0" anchor="t"/>
          <a:lstStyle/>
          <a:p>
            <a:pPr marL="0" indent="0">
              <a:lnSpc>
                <a:spcPts val="2721"/>
              </a:lnSpc>
              <a:buNone/>
            </a:pPr>
            <a:r>
              <a:rPr lang="en-US" sz="2177" b="1">
                <a:solidFill>
                  <a:srgbClr val="403C4E"/>
                </a:solidFill>
                <a:latin typeface="Merriweather" pitchFamily="34" charset="0"/>
                <a:ea typeface="Merriweather" pitchFamily="34" charset="-122"/>
                <a:cs typeface="Merriweather" pitchFamily="34" charset="-120"/>
              </a:rPr>
              <a:t>Powerful Tool</a:t>
            </a:r>
            <a:endParaRPr lang="en-US" sz="2177"/>
          </a:p>
        </p:txBody>
      </p:sp>
      <p:sp>
        <p:nvSpPr>
          <p:cNvPr id="8" name="Text 5"/>
          <p:cNvSpPr/>
          <p:nvPr/>
        </p:nvSpPr>
        <p:spPr>
          <a:xfrm>
            <a:off x="2780943" y="2358747"/>
            <a:ext cx="4423648" cy="1990963"/>
          </a:xfrm>
          <a:prstGeom prst="rect">
            <a:avLst/>
          </a:prstGeom>
          <a:noFill/>
          <a:ln/>
        </p:spPr>
        <p:txBody>
          <a:bodyPr wrap="square" rtlCol="0" anchor="t"/>
          <a:lstStyle/>
          <a:p>
            <a:pPr marL="0" indent="0">
              <a:lnSpc>
                <a:spcPts val="2612"/>
              </a:lnSpc>
              <a:buNone/>
            </a:pPr>
            <a:r>
              <a:rPr lang="en-US" sz="1742">
                <a:solidFill>
                  <a:srgbClr val="403C4E"/>
                </a:solidFill>
                <a:latin typeface="Open Sans" pitchFamily="34" charset="0"/>
                <a:ea typeface="Open Sans" pitchFamily="34" charset="-122"/>
                <a:cs typeface="Open Sans" pitchFamily="34" charset="-120"/>
              </a:rPr>
              <a:t>Sentiment analysis is a powerful tool that allows us to gain valuable insights into the sentiment and opinions expressed in textual data. It helps us understand the emotions, attitudes, and preferences of individuals and groups.</a:t>
            </a:r>
            <a:endParaRPr lang="en-US" sz="1742"/>
          </a:p>
        </p:txBody>
      </p:sp>
      <p:sp>
        <p:nvSpPr>
          <p:cNvPr id="9" name="Shape 6"/>
          <p:cNvSpPr/>
          <p:nvPr/>
        </p:nvSpPr>
        <p:spPr>
          <a:xfrm>
            <a:off x="7425690" y="1880592"/>
            <a:ext cx="497562" cy="497562"/>
          </a:xfrm>
          <a:prstGeom prst="roundRect">
            <a:avLst>
              <a:gd name="adj" fmla="val 20003"/>
            </a:avLst>
          </a:prstGeom>
          <a:solidFill>
            <a:srgbClr val="FFD8CC"/>
          </a:solidFill>
          <a:ln w="7620">
            <a:solidFill>
              <a:srgbClr val="E5BEB2"/>
            </a:solidFill>
            <a:prstDash val="solid"/>
          </a:ln>
        </p:spPr>
      </p:sp>
      <p:sp>
        <p:nvSpPr>
          <p:cNvPr id="10" name="Text 7"/>
          <p:cNvSpPr/>
          <p:nvPr/>
        </p:nvSpPr>
        <p:spPr>
          <a:xfrm>
            <a:off x="7574161" y="1922026"/>
            <a:ext cx="200620" cy="414576"/>
          </a:xfrm>
          <a:prstGeom prst="rect">
            <a:avLst/>
          </a:prstGeom>
          <a:noFill/>
          <a:ln/>
        </p:spPr>
        <p:txBody>
          <a:bodyPr wrap="none" rtlCol="0" anchor="t"/>
          <a:lstStyle/>
          <a:p>
            <a:pPr marL="0" indent="0" algn="ctr">
              <a:lnSpc>
                <a:spcPts val="3265"/>
              </a:lnSpc>
              <a:buNone/>
            </a:pPr>
            <a:r>
              <a:rPr lang="en-US" sz="2612" b="1">
                <a:solidFill>
                  <a:srgbClr val="403C4E"/>
                </a:solidFill>
                <a:latin typeface="Merriweather" pitchFamily="34" charset="0"/>
                <a:ea typeface="Merriweather" pitchFamily="34" charset="-122"/>
                <a:cs typeface="Merriweather" pitchFamily="34" charset="-120"/>
              </a:rPr>
              <a:t>2</a:t>
            </a:r>
            <a:endParaRPr lang="en-US" sz="2612"/>
          </a:p>
        </p:txBody>
      </p:sp>
      <p:sp>
        <p:nvSpPr>
          <p:cNvPr id="11" name="Text 8"/>
          <p:cNvSpPr/>
          <p:nvPr/>
        </p:nvSpPr>
        <p:spPr>
          <a:xfrm>
            <a:off x="8144351" y="1880592"/>
            <a:ext cx="2855833" cy="345519"/>
          </a:xfrm>
          <a:prstGeom prst="rect">
            <a:avLst/>
          </a:prstGeom>
          <a:noFill/>
          <a:ln/>
        </p:spPr>
        <p:txBody>
          <a:bodyPr wrap="none" rtlCol="0" anchor="t"/>
          <a:lstStyle/>
          <a:p>
            <a:pPr marL="0" indent="0">
              <a:lnSpc>
                <a:spcPts val="2721"/>
              </a:lnSpc>
              <a:buNone/>
            </a:pPr>
            <a:r>
              <a:rPr lang="en-US" sz="2177" b="1">
                <a:solidFill>
                  <a:srgbClr val="403C4E"/>
                </a:solidFill>
                <a:latin typeface="Merriweather" pitchFamily="34" charset="0"/>
                <a:ea typeface="Merriweather" pitchFamily="34" charset="-122"/>
                <a:cs typeface="Merriweather" pitchFamily="34" charset="-120"/>
              </a:rPr>
              <a:t>Diverse Applications</a:t>
            </a:r>
            <a:endParaRPr lang="en-US" sz="2177"/>
          </a:p>
        </p:txBody>
      </p:sp>
      <p:sp>
        <p:nvSpPr>
          <p:cNvPr id="12" name="Text 9"/>
          <p:cNvSpPr/>
          <p:nvPr/>
        </p:nvSpPr>
        <p:spPr>
          <a:xfrm>
            <a:off x="8144351" y="2358747"/>
            <a:ext cx="4423648" cy="2322790"/>
          </a:xfrm>
          <a:prstGeom prst="rect">
            <a:avLst/>
          </a:prstGeom>
          <a:noFill/>
          <a:ln/>
        </p:spPr>
        <p:txBody>
          <a:bodyPr wrap="square" rtlCol="0" anchor="t"/>
          <a:lstStyle/>
          <a:p>
            <a:pPr marL="0" indent="0">
              <a:lnSpc>
                <a:spcPts val="2612"/>
              </a:lnSpc>
              <a:buNone/>
            </a:pPr>
            <a:r>
              <a:rPr lang="en-US" sz="1742">
                <a:solidFill>
                  <a:srgbClr val="403C4E"/>
                </a:solidFill>
                <a:latin typeface="Open Sans" pitchFamily="34" charset="0"/>
                <a:ea typeface="Open Sans" pitchFamily="34" charset="-122"/>
                <a:cs typeface="Open Sans" pitchFamily="34" charset="-120"/>
              </a:rPr>
              <a:t>Sentiment analysis has diverse applications across various industries and domains. It can be used for social media monitoring, brand reputation management, market research, customer feedback analysis, and more. The possibilities are endless.</a:t>
            </a:r>
            <a:endParaRPr lang="en-US" sz="1742"/>
          </a:p>
        </p:txBody>
      </p:sp>
      <p:sp>
        <p:nvSpPr>
          <p:cNvPr id="13" name="Shape 10"/>
          <p:cNvSpPr/>
          <p:nvPr/>
        </p:nvSpPr>
        <p:spPr>
          <a:xfrm>
            <a:off x="2062282" y="5151358"/>
            <a:ext cx="497562" cy="497562"/>
          </a:xfrm>
          <a:prstGeom prst="roundRect">
            <a:avLst>
              <a:gd name="adj" fmla="val 20003"/>
            </a:avLst>
          </a:prstGeom>
          <a:solidFill>
            <a:srgbClr val="FFD8CC"/>
          </a:solidFill>
          <a:ln w="7620">
            <a:solidFill>
              <a:srgbClr val="E5BEB2"/>
            </a:solidFill>
            <a:prstDash val="solid"/>
          </a:ln>
        </p:spPr>
      </p:sp>
      <p:sp>
        <p:nvSpPr>
          <p:cNvPr id="14" name="Text 11"/>
          <p:cNvSpPr/>
          <p:nvPr/>
        </p:nvSpPr>
        <p:spPr>
          <a:xfrm>
            <a:off x="2217182" y="5192792"/>
            <a:ext cx="187762" cy="414576"/>
          </a:xfrm>
          <a:prstGeom prst="rect">
            <a:avLst/>
          </a:prstGeom>
          <a:noFill/>
          <a:ln/>
        </p:spPr>
        <p:txBody>
          <a:bodyPr wrap="none" rtlCol="0" anchor="t"/>
          <a:lstStyle/>
          <a:p>
            <a:pPr marL="0" indent="0" algn="ctr">
              <a:lnSpc>
                <a:spcPts val="3265"/>
              </a:lnSpc>
              <a:buNone/>
            </a:pPr>
            <a:r>
              <a:rPr lang="en-US" sz="2612" b="1">
                <a:solidFill>
                  <a:srgbClr val="403C4E"/>
                </a:solidFill>
                <a:latin typeface="Merriweather" pitchFamily="34" charset="0"/>
                <a:ea typeface="Merriweather" pitchFamily="34" charset="-122"/>
                <a:cs typeface="Merriweather" pitchFamily="34" charset="-120"/>
              </a:rPr>
              <a:t>3</a:t>
            </a:r>
            <a:endParaRPr lang="en-US" sz="2612"/>
          </a:p>
        </p:txBody>
      </p:sp>
      <p:sp>
        <p:nvSpPr>
          <p:cNvPr id="15" name="Text 12"/>
          <p:cNvSpPr/>
          <p:nvPr/>
        </p:nvSpPr>
        <p:spPr>
          <a:xfrm>
            <a:off x="2780943" y="5151358"/>
            <a:ext cx="3142893" cy="345519"/>
          </a:xfrm>
          <a:prstGeom prst="rect">
            <a:avLst/>
          </a:prstGeom>
          <a:noFill/>
          <a:ln/>
        </p:spPr>
        <p:txBody>
          <a:bodyPr wrap="none" rtlCol="0" anchor="t"/>
          <a:lstStyle/>
          <a:p>
            <a:pPr marL="0" indent="0">
              <a:lnSpc>
                <a:spcPts val="2721"/>
              </a:lnSpc>
              <a:buNone/>
            </a:pPr>
            <a:r>
              <a:rPr lang="en-US" sz="2177" b="1">
                <a:solidFill>
                  <a:srgbClr val="403C4E"/>
                </a:solidFill>
                <a:latin typeface="Merriweather" pitchFamily="34" charset="0"/>
                <a:ea typeface="Merriweather" pitchFamily="34" charset="-122"/>
                <a:cs typeface="Merriweather" pitchFamily="34" charset="-120"/>
              </a:rPr>
              <a:t>Ethical Considerations</a:t>
            </a:r>
            <a:endParaRPr lang="en-US" sz="2177"/>
          </a:p>
        </p:txBody>
      </p:sp>
      <p:sp>
        <p:nvSpPr>
          <p:cNvPr id="16" name="Text 13"/>
          <p:cNvSpPr/>
          <p:nvPr/>
        </p:nvSpPr>
        <p:spPr>
          <a:xfrm>
            <a:off x="2780943" y="5629513"/>
            <a:ext cx="4423648" cy="1990963"/>
          </a:xfrm>
          <a:prstGeom prst="rect">
            <a:avLst/>
          </a:prstGeom>
          <a:noFill/>
          <a:ln/>
        </p:spPr>
        <p:txBody>
          <a:bodyPr wrap="square" rtlCol="0" anchor="t"/>
          <a:lstStyle/>
          <a:p>
            <a:pPr marL="0" indent="0">
              <a:lnSpc>
                <a:spcPts val="2612"/>
              </a:lnSpc>
              <a:buNone/>
            </a:pPr>
            <a:r>
              <a:rPr lang="en-US" sz="1742">
                <a:solidFill>
                  <a:srgbClr val="403C4E"/>
                </a:solidFill>
                <a:latin typeface="Open Sans" pitchFamily="34" charset="0"/>
                <a:ea typeface="Open Sans" pitchFamily="34" charset="-122"/>
                <a:cs typeface="Open Sans" pitchFamily="34" charset="-120"/>
              </a:rPr>
              <a:t>While sentiment analysis provides valuable insights, it's important to address ethical considerations. Ensuring privacy, handling sensitive data, and avoiding biases are crucial aspects to consider when using sentiment analysis technology.</a:t>
            </a:r>
            <a:endParaRPr lang="en-US" sz="1742"/>
          </a:p>
        </p:txBody>
      </p:sp>
      <p:sp>
        <p:nvSpPr>
          <p:cNvPr id="17" name="Shape 14"/>
          <p:cNvSpPr/>
          <p:nvPr/>
        </p:nvSpPr>
        <p:spPr>
          <a:xfrm>
            <a:off x="7425690" y="5151358"/>
            <a:ext cx="497562" cy="497562"/>
          </a:xfrm>
          <a:prstGeom prst="roundRect">
            <a:avLst>
              <a:gd name="adj" fmla="val 20003"/>
            </a:avLst>
          </a:prstGeom>
          <a:solidFill>
            <a:srgbClr val="FFD8CC"/>
          </a:solidFill>
          <a:ln w="7620">
            <a:solidFill>
              <a:srgbClr val="E5BEB2"/>
            </a:solidFill>
            <a:prstDash val="solid"/>
          </a:ln>
        </p:spPr>
      </p:sp>
      <p:sp>
        <p:nvSpPr>
          <p:cNvPr id="18" name="Text 15"/>
          <p:cNvSpPr/>
          <p:nvPr/>
        </p:nvSpPr>
        <p:spPr>
          <a:xfrm>
            <a:off x="7564874" y="5192792"/>
            <a:ext cx="219194" cy="414576"/>
          </a:xfrm>
          <a:prstGeom prst="rect">
            <a:avLst/>
          </a:prstGeom>
          <a:noFill/>
          <a:ln/>
        </p:spPr>
        <p:txBody>
          <a:bodyPr wrap="none" rtlCol="0" anchor="t"/>
          <a:lstStyle/>
          <a:p>
            <a:pPr marL="0" indent="0" algn="ctr">
              <a:lnSpc>
                <a:spcPts val="3265"/>
              </a:lnSpc>
              <a:buNone/>
            </a:pPr>
            <a:r>
              <a:rPr lang="en-US" sz="2612" b="1">
                <a:solidFill>
                  <a:srgbClr val="403C4E"/>
                </a:solidFill>
                <a:latin typeface="Merriweather" pitchFamily="34" charset="0"/>
                <a:ea typeface="Merriweather" pitchFamily="34" charset="-122"/>
                <a:cs typeface="Merriweather" pitchFamily="34" charset="-120"/>
              </a:rPr>
              <a:t>4</a:t>
            </a:r>
            <a:endParaRPr lang="en-US" sz="2612"/>
          </a:p>
        </p:txBody>
      </p:sp>
      <p:sp>
        <p:nvSpPr>
          <p:cNvPr id="19" name="Text 16"/>
          <p:cNvSpPr/>
          <p:nvPr/>
        </p:nvSpPr>
        <p:spPr>
          <a:xfrm>
            <a:off x="8144351" y="5151358"/>
            <a:ext cx="3389471" cy="345519"/>
          </a:xfrm>
          <a:prstGeom prst="rect">
            <a:avLst/>
          </a:prstGeom>
          <a:noFill/>
          <a:ln/>
        </p:spPr>
        <p:txBody>
          <a:bodyPr wrap="none" rtlCol="0" anchor="t"/>
          <a:lstStyle/>
          <a:p>
            <a:pPr marL="0" indent="0">
              <a:lnSpc>
                <a:spcPts val="2721"/>
              </a:lnSpc>
              <a:buNone/>
            </a:pPr>
            <a:r>
              <a:rPr lang="en-US" sz="2177" b="1">
                <a:solidFill>
                  <a:srgbClr val="403C4E"/>
                </a:solidFill>
                <a:latin typeface="Merriweather" pitchFamily="34" charset="0"/>
                <a:ea typeface="Merriweather" pitchFamily="34" charset="-122"/>
                <a:cs typeface="Merriweather" pitchFamily="34" charset="-120"/>
              </a:rPr>
              <a:t>Practical Considerations</a:t>
            </a:r>
            <a:endParaRPr lang="en-US" sz="2177"/>
          </a:p>
        </p:txBody>
      </p:sp>
      <p:sp>
        <p:nvSpPr>
          <p:cNvPr id="20" name="Text 17"/>
          <p:cNvSpPr/>
          <p:nvPr/>
        </p:nvSpPr>
        <p:spPr>
          <a:xfrm>
            <a:off x="8144351" y="5629513"/>
            <a:ext cx="4423648" cy="1990963"/>
          </a:xfrm>
          <a:prstGeom prst="rect">
            <a:avLst/>
          </a:prstGeom>
          <a:noFill/>
          <a:ln/>
        </p:spPr>
        <p:txBody>
          <a:bodyPr wrap="square" rtlCol="0" anchor="t"/>
          <a:lstStyle/>
          <a:p>
            <a:pPr marL="0" indent="0">
              <a:lnSpc>
                <a:spcPts val="2612"/>
              </a:lnSpc>
              <a:buNone/>
            </a:pPr>
            <a:r>
              <a:rPr lang="en-US" sz="1742">
                <a:solidFill>
                  <a:srgbClr val="403C4E"/>
                </a:solidFill>
                <a:latin typeface="Open Sans" pitchFamily="34" charset="0"/>
                <a:ea typeface="Open Sans" pitchFamily="34" charset="-122"/>
                <a:cs typeface="Open Sans" pitchFamily="34" charset="-120"/>
              </a:rPr>
              <a:t>There are practical considerations to keep in mind when working with sentiment analysis. These include data quality, model accuracy, scalability, and the need for continuous improvement and adaptation as language and user behavior evolve.</a:t>
            </a:r>
            <a:endParaRPr lang="en-US" sz="1742"/>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FFFFFF"/>
          </a:solidFill>
          <a:ln/>
        </p:spPr>
      </p:sp>
      <p:sp>
        <p:nvSpPr>
          <p:cNvPr id="4" name="Text 1"/>
          <p:cNvSpPr/>
          <p:nvPr/>
        </p:nvSpPr>
        <p:spPr>
          <a:xfrm>
            <a:off x="2037993" y="1902738"/>
            <a:ext cx="10554414" cy="333256"/>
          </a:xfrm>
          <a:prstGeom prst="rect">
            <a:avLst/>
          </a:prstGeom>
          <a:noFill/>
          <a:ln/>
        </p:spPr>
        <p:txBody>
          <a:bodyPr wrap="none" rtlCol="0" anchor="t"/>
          <a:lstStyle/>
          <a:p>
            <a:pPr marL="0" indent="0">
              <a:lnSpc>
                <a:spcPts val="2624"/>
              </a:lnSpc>
              <a:buNone/>
            </a:pPr>
            <a:endParaRPr lang="en-US" sz="1750"/>
          </a:p>
        </p:txBody>
      </p:sp>
      <p:sp>
        <p:nvSpPr>
          <p:cNvPr id="5" name="Text 2"/>
          <p:cNvSpPr/>
          <p:nvPr/>
        </p:nvSpPr>
        <p:spPr>
          <a:xfrm>
            <a:off x="2037993" y="2485906"/>
            <a:ext cx="10554414" cy="333256"/>
          </a:xfrm>
          <a:prstGeom prst="rect">
            <a:avLst/>
          </a:prstGeom>
          <a:noFill/>
          <a:ln/>
        </p:spPr>
        <p:txBody>
          <a:bodyPr wrap="none" rtlCol="0" anchor="t"/>
          <a:lstStyle/>
          <a:p>
            <a:pPr marL="0" indent="0">
              <a:lnSpc>
                <a:spcPts val="2624"/>
              </a:lnSpc>
              <a:buNone/>
            </a:pPr>
            <a:endParaRPr lang="en-US" sz="1750"/>
          </a:p>
        </p:txBody>
      </p:sp>
      <p:sp>
        <p:nvSpPr>
          <p:cNvPr id="6" name="Text 3"/>
          <p:cNvSpPr/>
          <p:nvPr/>
        </p:nvSpPr>
        <p:spPr>
          <a:xfrm>
            <a:off x="2037993" y="3069074"/>
            <a:ext cx="10554414" cy="333256"/>
          </a:xfrm>
          <a:prstGeom prst="rect">
            <a:avLst/>
          </a:prstGeom>
          <a:noFill/>
          <a:ln/>
        </p:spPr>
        <p:txBody>
          <a:bodyPr wrap="none" rtlCol="0" anchor="t"/>
          <a:lstStyle/>
          <a:p>
            <a:pPr marL="0" indent="0">
              <a:lnSpc>
                <a:spcPts val="2624"/>
              </a:lnSpc>
              <a:buNone/>
            </a:pPr>
            <a:endParaRPr lang="en-US" sz="1750"/>
          </a:p>
        </p:txBody>
      </p:sp>
      <p:sp>
        <p:nvSpPr>
          <p:cNvPr id="7" name="Text 4"/>
          <p:cNvSpPr/>
          <p:nvPr/>
        </p:nvSpPr>
        <p:spPr>
          <a:xfrm>
            <a:off x="3482221" y="3735586"/>
            <a:ext cx="7665839" cy="958215"/>
          </a:xfrm>
          <a:prstGeom prst="rect">
            <a:avLst/>
          </a:prstGeom>
          <a:noFill/>
          <a:ln/>
        </p:spPr>
        <p:txBody>
          <a:bodyPr wrap="none" rtlCol="0" anchor="t"/>
          <a:lstStyle/>
          <a:p>
            <a:pPr marL="0" indent="0" algn="ctr">
              <a:lnSpc>
                <a:spcPts val="7545"/>
              </a:lnSpc>
              <a:buNone/>
            </a:pPr>
            <a:r>
              <a:rPr lang="en-US" sz="6036" b="1">
                <a:solidFill>
                  <a:srgbClr val="403C4E"/>
                </a:solidFill>
                <a:latin typeface="Merriweather" pitchFamily="34" charset="0"/>
                <a:ea typeface="Merriweather" pitchFamily="34" charset="-122"/>
                <a:cs typeface="Merriweather" pitchFamily="34" charset="-120"/>
              </a:rPr>
              <a:t>Thank You!</a:t>
            </a:r>
            <a:endParaRPr lang="en-US" sz="6036"/>
          </a:p>
        </p:txBody>
      </p:sp>
      <p:sp>
        <p:nvSpPr>
          <p:cNvPr id="8" name="Text 5"/>
          <p:cNvSpPr/>
          <p:nvPr/>
        </p:nvSpPr>
        <p:spPr>
          <a:xfrm>
            <a:off x="2037993" y="5027057"/>
            <a:ext cx="10554414" cy="333256"/>
          </a:xfrm>
          <a:prstGeom prst="rect">
            <a:avLst/>
          </a:prstGeom>
          <a:noFill/>
          <a:ln/>
        </p:spPr>
        <p:txBody>
          <a:bodyPr wrap="none" rtlCol="0" anchor="t"/>
          <a:lstStyle/>
          <a:p>
            <a:pPr marL="0" indent="0" algn="ctr">
              <a:lnSpc>
                <a:spcPts val="2624"/>
              </a:lnSpc>
              <a:buNone/>
            </a:pPr>
            <a:endParaRPr lang="en-US" sz="1750"/>
          </a:p>
        </p:txBody>
      </p:sp>
      <p:sp>
        <p:nvSpPr>
          <p:cNvPr id="9" name="Text 6"/>
          <p:cNvSpPr/>
          <p:nvPr/>
        </p:nvSpPr>
        <p:spPr>
          <a:xfrm>
            <a:off x="2037993" y="5610225"/>
            <a:ext cx="10554414" cy="333256"/>
          </a:xfrm>
          <a:prstGeom prst="rect">
            <a:avLst/>
          </a:prstGeom>
          <a:noFill/>
          <a:ln/>
        </p:spPr>
        <p:txBody>
          <a:bodyPr wrap="none" rtlCol="0" anchor="t"/>
          <a:lstStyle/>
          <a:p>
            <a:pPr marL="0" indent="0" algn="ctr">
              <a:lnSpc>
                <a:spcPts val="2624"/>
              </a:lnSpc>
              <a:buNone/>
            </a:pPr>
            <a:endParaRPr lang="en-US" sz="1750"/>
          </a:p>
        </p:txBody>
      </p:sp>
      <p:sp>
        <p:nvSpPr>
          <p:cNvPr id="10" name="Text 7"/>
          <p:cNvSpPr/>
          <p:nvPr/>
        </p:nvSpPr>
        <p:spPr>
          <a:xfrm>
            <a:off x="2037993" y="6193393"/>
            <a:ext cx="10554414" cy="333256"/>
          </a:xfrm>
          <a:prstGeom prst="rect">
            <a:avLst/>
          </a:prstGeom>
          <a:noFill/>
          <a:ln/>
        </p:spPr>
        <p:txBody>
          <a:bodyPr wrap="none" rtlCol="0" anchor="t"/>
          <a:lstStyle/>
          <a:p>
            <a:pPr marL="0" indent="0">
              <a:lnSpc>
                <a:spcPts val="2624"/>
              </a:lnSpc>
              <a:buNone/>
            </a:pPr>
            <a:endParaRPr lang="en-US" sz="175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Custom</PresentationFormat>
  <Slides>17</Slides>
  <Notes>17</Notes>
  <HiddenSlides>0</HiddenSlide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revision>49</cp:revision>
  <dcterms:created xsi:type="dcterms:W3CDTF">2024-06-07T11:40:36Z</dcterms:created>
  <dcterms:modified xsi:type="dcterms:W3CDTF">2024-06-07T12:47:11Z</dcterms:modified>
</cp:coreProperties>
</file>